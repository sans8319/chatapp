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4" r:id="rId2"/>
    <p:sldId id="265" r:id="rId3"/>
    <p:sldId id="266" r:id="rId4"/>
    <p:sldId id="267" r:id="rId5"/>
    <p:sldId id="268" r:id="rId6"/>
    <p:sldId id="269" r:id="rId7"/>
    <p:sldId id="270" r:id="rId8"/>
    <p:sldId id="271" r:id="rId9"/>
    <p:sldId id="272" r:id="rId10"/>
  </p:sldIdLst>
  <p:sldSz cx="14630400" cy="8229600"/>
  <p:notesSz cx="8229600" cy="14630400"/>
  <p:embeddedFontLst>
    <p:embeddedFont>
      <p:font typeface="Sitka Text" pitchFamily="2"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6003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bg1">
              <a:lumMod val="85000"/>
            </a:schemeClr>
          </a:fgClr>
          <a:bgClr>
            <a:schemeClr val="bg1"/>
          </a:bgClr>
        </a:patt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A4244A-A003-272C-742E-2F21D53C13F6}"/>
              </a:ext>
            </a:extLst>
          </p:cNvPr>
          <p:cNvPicPr>
            <a:picLocks noChangeAspect="1"/>
          </p:cNvPicPr>
          <p:nvPr/>
        </p:nvPicPr>
        <p:blipFill>
          <a:blip r:embed="rId2"/>
          <a:stretch>
            <a:fillRect/>
          </a:stretch>
        </p:blipFill>
        <p:spPr>
          <a:xfrm>
            <a:off x="-1" y="0"/>
            <a:ext cx="6053559" cy="8229600"/>
          </a:xfrm>
          <a:prstGeom prst="rect">
            <a:avLst/>
          </a:prstGeom>
        </p:spPr>
      </p:pic>
      <p:pic>
        <p:nvPicPr>
          <p:cNvPr id="4" name="Picture 3">
            <a:extLst>
              <a:ext uri="{FF2B5EF4-FFF2-40B4-BE49-F238E27FC236}">
                <a16:creationId xmlns:a16="http://schemas.microsoft.com/office/drawing/2014/main" id="{BBE6AE94-4B69-51F7-40CB-DB4F43317D89}"/>
              </a:ext>
            </a:extLst>
          </p:cNvPr>
          <p:cNvPicPr>
            <a:picLocks noChangeAspect="1"/>
          </p:cNvPicPr>
          <p:nvPr/>
        </p:nvPicPr>
        <p:blipFill>
          <a:blip r:embed="rId3">
            <a:alphaModFix amt="50000"/>
          </a:blip>
          <a:stretch>
            <a:fillRect/>
          </a:stretch>
        </p:blipFill>
        <p:spPr>
          <a:xfrm>
            <a:off x="11547318" y="-37539"/>
            <a:ext cx="3083082" cy="1561171"/>
          </a:xfrm>
          <a:prstGeom prst="rect">
            <a:avLst/>
          </a:prstGeom>
        </p:spPr>
      </p:pic>
      <p:sp>
        <p:nvSpPr>
          <p:cNvPr id="7" name="TextBox 6">
            <a:extLst>
              <a:ext uri="{FF2B5EF4-FFF2-40B4-BE49-F238E27FC236}">
                <a16:creationId xmlns:a16="http://schemas.microsoft.com/office/drawing/2014/main" id="{42B206BD-64DF-0FBF-E564-58E2E2DC08E9}"/>
              </a:ext>
            </a:extLst>
          </p:cNvPr>
          <p:cNvSpPr txBox="1"/>
          <p:nvPr/>
        </p:nvSpPr>
        <p:spPr>
          <a:xfrm>
            <a:off x="7889718" y="3145802"/>
            <a:ext cx="7315200" cy="810478"/>
          </a:xfrm>
          <a:prstGeom prst="rect">
            <a:avLst/>
          </a:prstGeom>
          <a:noFill/>
        </p:spPr>
        <p:txBody>
          <a:bodyPr wrap="square">
            <a:spAutoFit/>
          </a:bodyPr>
          <a:lstStyle/>
          <a:p>
            <a:pPr marL="0" indent="0" algn="l">
              <a:lnSpc>
                <a:spcPts val="5550"/>
              </a:lnSpc>
              <a:buNone/>
            </a:pPr>
            <a:r>
              <a:rPr lang="en-US" sz="4800" dirty="0" err="1">
                <a:latin typeface="Sitka Text" pitchFamily="2" charset="0"/>
                <a:cs typeface="Times New Roman" panose="02020603050405020304" pitchFamily="18" charset="0"/>
              </a:rPr>
              <a:t>RecycleView</a:t>
            </a:r>
            <a:endParaRPr lang="en-US" sz="4800" dirty="0">
              <a:latin typeface="Sitka Text" pitchFamily="2" charset="0"/>
              <a:cs typeface="Times New Roman" panose="02020603050405020304" pitchFamily="18" charset="0"/>
            </a:endParaRPr>
          </a:p>
        </p:txBody>
      </p:sp>
      <p:sp>
        <p:nvSpPr>
          <p:cNvPr id="9" name="TextBox 8">
            <a:extLst>
              <a:ext uri="{FF2B5EF4-FFF2-40B4-BE49-F238E27FC236}">
                <a16:creationId xmlns:a16="http://schemas.microsoft.com/office/drawing/2014/main" id="{648480A0-A09B-1281-FF03-4C34020EB1EF}"/>
              </a:ext>
            </a:extLst>
          </p:cNvPr>
          <p:cNvSpPr txBox="1"/>
          <p:nvPr/>
        </p:nvSpPr>
        <p:spPr>
          <a:xfrm>
            <a:off x="7511971" y="3956280"/>
            <a:ext cx="7511968" cy="369332"/>
          </a:xfrm>
          <a:prstGeom prst="rect">
            <a:avLst/>
          </a:prstGeom>
          <a:noFill/>
        </p:spPr>
        <p:txBody>
          <a:bodyPr wrap="square">
            <a:spAutoFit/>
          </a:bodyPr>
          <a:lstStyle/>
          <a:p>
            <a:pPr algn="ctr"/>
            <a:r>
              <a:rPr lang="en-US" sz="1800" b="1" spc="50" dirty="0">
                <a:ln w="0"/>
                <a:solidFill>
                  <a:schemeClr val="bg1">
                    <a:lumMod val="50000"/>
                  </a:schemeClr>
                </a:solidFill>
                <a:effectLst>
                  <a:innerShdw blurRad="63500" dist="50800" dir="13500000">
                    <a:srgbClr val="000000">
                      <a:alpha val="50000"/>
                    </a:srgbClr>
                  </a:innerShdw>
                </a:effectLst>
              </a:rPr>
              <a:t>Week 2, Day 2, Session 1</a:t>
            </a:r>
          </a:p>
        </p:txBody>
      </p:sp>
    </p:spTree>
    <p:extLst>
      <p:ext uri="{BB962C8B-B14F-4D97-AF65-F5344CB8AC3E}">
        <p14:creationId xmlns:p14="http://schemas.microsoft.com/office/powerpoint/2010/main" val="2133215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731AC8-B27A-747D-1407-11507E41D38D}"/>
              </a:ext>
            </a:extLst>
          </p:cNvPr>
          <p:cNvSpPr/>
          <p:nvPr/>
        </p:nvSpPr>
        <p:spPr>
          <a:xfrm>
            <a:off x="793789" y="920623"/>
            <a:ext cx="2172295" cy="373142"/>
          </a:xfrm>
          <a:prstGeom prst="roundRect">
            <a:avLst>
              <a:gd name="adj" fmla="val 17872"/>
            </a:avLst>
          </a:prstGeom>
          <a:solidFill>
            <a:srgbClr val="E8E8E3"/>
          </a:solidFill>
          <a:ln/>
        </p:spPr>
      </p:sp>
      <p:sp>
        <p:nvSpPr>
          <p:cNvPr id="3" name="Text 1">
            <a:extLst>
              <a:ext uri="{FF2B5EF4-FFF2-40B4-BE49-F238E27FC236}">
                <a16:creationId xmlns:a16="http://schemas.microsoft.com/office/drawing/2014/main" id="{28D30E7E-E9BC-3903-4D99-0F7389A23109}"/>
              </a:ext>
            </a:extLst>
          </p:cNvPr>
          <p:cNvSpPr/>
          <p:nvPr/>
        </p:nvSpPr>
        <p:spPr>
          <a:xfrm>
            <a:off x="912851" y="977272"/>
            <a:ext cx="193417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Times New Roman" panose="02020603050405020304" pitchFamily="18" charset="0"/>
                <a:ea typeface="Lato" pitchFamily="34" charset="-122"/>
                <a:cs typeface="Times New Roman" panose="02020603050405020304" pitchFamily="18" charset="0"/>
              </a:rPr>
              <a:t>ANDROID DEVELOPMENT</a:t>
            </a:r>
            <a:endParaRPr lang="en-US" sz="12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D2DD0892-7AFF-1371-3B01-639D683777DF}"/>
              </a:ext>
            </a:extLst>
          </p:cNvPr>
          <p:cNvSpPr/>
          <p:nvPr/>
        </p:nvSpPr>
        <p:spPr>
          <a:xfrm>
            <a:off x="772954" y="1364309"/>
            <a:ext cx="5439132"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Times New Roman" panose="02020603050405020304" pitchFamily="18" charset="0"/>
                <a:ea typeface="Gelasio" pitchFamily="34" charset="-122"/>
                <a:cs typeface="Times New Roman" panose="02020603050405020304" pitchFamily="18" charset="0"/>
              </a:rPr>
              <a:t>RecyclerView in Android</a:t>
            </a:r>
            <a:endParaRPr lang="en-US" sz="3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6F5988FA-DBAB-4613-5095-032C89AB2E75}"/>
              </a:ext>
            </a:extLst>
          </p:cNvPr>
          <p:cNvSpPr/>
          <p:nvPr/>
        </p:nvSpPr>
        <p:spPr>
          <a:xfrm>
            <a:off x="793789" y="208496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A modern, efficient way to display scrolling lists of data in your Android apps. This presentation walks you through what RecyclerView is, why it replaced ListView, and how to use it to handle large datasets with ease.</a:t>
            </a:r>
            <a:endParaRPr lang="en-US" sz="1550" dirty="0">
              <a:latin typeface="Times New Roman" panose="02020603050405020304" pitchFamily="18" charset="0"/>
              <a:cs typeface="Times New Roman" panose="02020603050405020304" pitchFamily="18" charset="0"/>
            </a:endParaRPr>
          </a:p>
        </p:txBody>
      </p:sp>
      <p:sp>
        <p:nvSpPr>
          <p:cNvPr id="6" name="Text 7">
            <a:extLst>
              <a:ext uri="{FF2B5EF4-FFF2-40B4-BE49-F238E27FC236}">
                <a16:creationId xmlns:a16="http://schemas.microsoft.com/office/drawing/2014/main" id="{2BD67989-CF91-BB5D-DB93-35516796DC46}"/>
              </a:ext>
            </a:extLst>
          </p:cNvPr>
          <p:cNvSpPr/>
          <p:nvPr/>
        </p:nvSpPr>
        <p:spPr>
          <a:xfrm>
            <a:off x="772954" y="329907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Times New Roman" panose="02020603050405020304" pitchFamily="18" charset="0"/>
                <a:ea typeface="Gelasio" pitchFamily="34" charset="-122"/>
                <a:cs typeface="Times New Roman" panose="02020603050405020304" pitchFamily="18" charset="0"/>
              </a:rPr>
              <a:t>What You'll Learn</a:t>
            </a:r>
            <a:endParaRPr lang="en-US" sz="1950" dirty="0">
              <a:latin typeface="Times New Roman" panose="02020603050405020304" pitchFamily="18" charset="0"/>
              <a:cs typeface="Times New Roman" panose="02020603050405020304" pitchFamily="18" charset="0"/>
            </a:endParaRPr>
          </a:p>
        </p:txBody>
      </p:sp>
      <p:sp>
        <p:nvSpPr>
          <p:cNvPr id="7" name="Text 8">
            <a:extLst>
              <a:ext uri="{FF2B5EF4-FFF2-40B4-BE49-F238E27FC236}">
                <a16:creationId xmlns:a16="http://schemas.microsoft.com/office/drawing/2014/main" id="{825543A9-6C8E-8D66-9F34-97B2EDAD33A4}"/>
              </a:ext>
            </a:extLst>
          </p:cNvPr>
          <p:cNvSpPr/>
          <p:nvPr/>
        </p:nvSpPr>
        <p:spPr>
          <a:xfrm>
            <a:off x="793789" y="4031155"/>
            <a:ext cx="7632025"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What RecyclerView is and its core purpose</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Why it replaced the older ListView component</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How it handles large datasets efficiently</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The basic components and how they work together</a:t>
            </a:r>
            <a:endParaRPr lang="en-US" sz="155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AF199A3-FAF1-0D48-9A26-105B5A2A27DA}"/>
              </a:ext>
            </a:extLst>
          </p:cNvPr>
          <p:cNvPicPr>
            <a:picLocks noChangeAspect="1"/>
          </p:cNvPicPr>
          <p:nvPr/>
        </p:nvPicPr>
        <p:blipFill>
          <a:blip r:embed="rId2"/>
          <a:stretch>
            <a:fillRect/>
          </a:stretch>
        </p:blipFill>
        <p:spPr>
          <a:xfrm>
            <a:off x="7142480" y="2448560"/>
            <a:ext cx="6238240" cy="5028181"/>
          </a:xfrm>
          <a:prstGeom prst="rect">
            <a:avLst/>
          </a:prstGeom>
        </p:spPr>
      </p:pic>
      <p:pic>
        <p:nvPicPr>
          <p:cNvPr id="9" name="Picture 8">
            <a:extLst>
              <a:ext uri="{FF2B5EF4-FFF2-40B4-BE49-F238E27FC236}">
                <a16:creationId xmlns:a16="http://schemas.microsoft.com/office/drawing/2014/main" id="{5928AB44-1D2B-4C89-BC9F-D45030C4F2CB}"/>
              </a:ext>
            </a:extLst>
          </p:cNvPr>
          <p:cNvPicPr>
            <a:picLocks noChangeAspect="1"/>
          </p:cNvPicPr>
          <p:nvPr/>
        </p:nvPicPr>
        <p:blipFill>
          <a:blip r:embed="rId3">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3126223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AD3F96-862D-EC27-3539-0CB5527165C9}"/>
              </a:ext>
            </a:extLst>
          </p:cNvPr>
          <p:cNvSpPr/>
          <p:nvPr/>
        </p:nvSpPr>
        <p:spPr>
          <a:xfrm>
            <a:off x="793790" y="1929646"/>
            <a:ext cx="827842" cy="373142"/>
          </a:xfrm>
          <a:prstGeom prst="roundRect">
            <a:avLst>
              <a:gd name="adj" fmla="val 17872"/>
            </a:avLst>
          </a:prstGeom>
          <a:solidFill>
            <a:srgbClr val="E8E8E3"/>
          </a:solidFill>
          <a:ln/>
        </p:spPr>
      </p:sp>
      <p:sp>
        <p:nvSpPr>
          <p:cNvPr id="3" name="Text 1">
            <a:extLst>
              <a:ext uri="{FF2B5EF4-FFF2-40B4-BE49-F238E27FC236}">
                <a16:creationId xmlns:a16="http://schemas.microsoft.com/office/drawing/2014/main" id="{957DD897-4A83-511D-8B0C-4EE96BADB0D8}"/>
              </a:ext>
            </a:extLst>
          </p:cNvPr>
          <p:cNvSpPr/>
          <p:nvPr/>
        </p:nvSpPr>
        <p:spPr>
          <a:xfrm>
            <a:off x="912852" y="1989177"/>
            <a:ext cx="589717"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Times New Roman" panose="02020603050405020304" pitchFamily="18" charset="0"/>
                <a:ea typeface="Lato" pitchFamily="34" charset="-122"/>
                <a:cs typeface="Times New Roman" panose="02020603050405020304" pitchFamily="18" charset="0"/>
              </a:rPr>
              <a:t>TOPIC 1</a:t>
            </a:r>
            <a:endParaRPr lang="en-US" sz="12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EF260067-3564-6CC0-2C9A-0620C3D76304}"/>
              </a:ext>
            </a:extLst>
          </p:cNvPr>
          <p:cNvSpPr/>
          <p:nvPr/>
        </p:nvSpPr>
        <p:spPr>
          <a:xfrm>
            <a:off x="793790" y="2382083"/>
            <a:ext cx="4980027"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Times New Roman" panose="02020603050405020304" pitchFamily="18" charset="0"/>
                <a:ea typeface="Gelasio" pitchFamily="34" charset="-122"/>
                <a:cs typeface="Times New Roman" panose="02020603050405020304" pitchFamily="18" charset="0"/>
              </a:rPr>
              <a:t>What is RecyclerView?</a:t>
            </a:r>
            <a:endParaRPr lang="en-US" sz="3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F2753245-9D49-79B6-77B7-C07395E43DA4}"/>
              </a:ext>
            </a:extLst>
          </p:cNvPr>
          <p:cNvSpPr/>
          <p:nvPr/>
        </p:nvSpPr>
        <p:spPr>
          <a:xfrm>
            <a:off x="793790" y="3299817"/>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Times New Roman" panose="02020603050405020304" pitchFamily="18" charset="0"/>
                <a:ea typeface="Lato" pitchFamily="34" charset="-122"/>
                <a:cs typeface="Times New Roman" panose="02020603050405020304" pitchFamily="18" charset="0"/>
              </a:rPr>
              <a:t>RecyclerView</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is a flexible Android widget for displaying large datasets in a scrollable list or grid. Introduced in Android 5.0 (API 21) as part of the </a:t>
            </a:r>
            <a:r>
              <a:rPr lang="en-US" sz="1550" dirty="0">
                <a:solidFill>
                  <a:srgbClr val="272525"/>
                </a:solidFill>
                <a:highlight>
                  <a:srgbClr val="F2F2F2"/>
                </a:highlight>
                <a:latin typeface="Times New Roman" panose="02020603050405020304" pitchFamily="18" charset="0"/>
                <a:ea typeface="Consolas" pitchFamily="34" charset="-122"/>
                <a:cs typeface="Times New Roman" panose="02020603050405020304" pitchFamily="18" charset="0"/>
              </a:rPr>
              <a:t>androidx.recyclerview</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library, it is the go-to component for any app that needs to show repeating items — from contact lists to social media feeds.</a:t>
            </a:r>
            <a:endParaRPr lang="en-US" sz="1550" dirty="0">
              <a:latin typeface="Times New Roman" panose="02020603050405020304" pitchFamily="18" charset="0"/>
              <a:cs typeface="Times New Roman" panose="02020603050405020304" pitchFamily="18" charset="0"/>
            </a:endParaRPr>
          </a:p>
        </p:txBody>
      </p:sp>
      <p:sp>
        <p:nvSpPr>
          <p:cNvPr id="6" name="Shape 4">
            <a:extLst>
              <a:ext uri="{FF2B5EF4-FFF2-40B4-BE49-F238E27FC236}">
                <a16:creationId xmlns:a16="http://schemas.microsoft.com/office/drawing/2014/main" id="{E2C02B00-ECCF-AE50-D71B-00819CC3E811}"/>
              </a:ext>
            </a:extLst>
          </p:cNvPr>
          <p:cNvSpPr/>
          <p:nvPr/>
        </p:nvSpPr>
        <p:spPr>
          <a:xfrm>
            <a:off x="793790" y="4158139"/>
            <a:ext cx="4215289" cy="2141815"/>
          </a:xfrm>
          <a:prstGeom prst="roundRect">
            <a:avLst>
              <a:gd name="adj" fmla="val 5123"/>
            </a:avLst>
          </a:prstGeom>
          <a:solidFill>
            <a:srgbClr val="FFFFFF">
              <a:alpha val="95000"/>
            </a:srgbClr>
          </a:solidFill>
          <a:ln w="22860">
            <a:solidFill>
              <a:srgbClr val="CECEC9"/>
            </a:solidFill>
            <a:prstDash val="solid"/>
          </a:ln>
        </p:spPr>
      </p:sp>
      <p:sp>
        <p:nvSpPr>
          <p:cNvPr id="7" name="Shape 5">
            <a:extLst>
              <a:ext uri="{FF2B5EF4-FFF2-40B4-BE49-F238E27FC236}">
                <a16:creationId xmlns:a16="http://schemas.microsoft.com/office/drawing/2014/main" id="{5CBB7C39-7A97-E9A5-B1E8-39DB6A4CE193}"/>
              </a:ext>
            </a:extLst>
          </p:cNvPr>
          <p:cNvSpPr/>
          <p:nvPr/>
        </p:nvSpPr>
        <p:spPr>
          <a:xfrm>
            <a:off x="770930" y="4158139"/>
            <a:ext cx="91440" cy="2141815"/>
          </a:xfrm>
          <a:prstGeom prst="roundRect">
            <a:avLst>
              <a:gd name="adj" fmla="val 91163"/>
            </a:avLst>
          </a:prstGeom>
          <a:solidFill>
            <a:srgbClr val="E5E5E0"/>
          </a:solidFill>
          <a:ln/>
        </p:spPr>
      </p:sp>
      <p:sp>
        <p:nvSpPr>
          <p:cNvPr id="8" name="Text 6">
            <a:extLst>
              <a:ext uri="{FF2B5EF4-FFF2-40B4-BE49-F238E27FC236}">
                <a16:creationId xmlns:a16="http://schemas.microsoft.com/office/drawing/2014/main" id="{DFF8C8BF-73CF-E538-1208-D8C1480A98C4}"/>
              </a:ext>
            </a:extLst>
          </p:cNvPr>
          <p:cNvSpPr/>
          <p:nvPr/>
        </p:nvSpPr>
        <p:spPr>
          <a:xfrm>
            <a:off x="1083588" y="437935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Scrollable Container</a:t>
            </a:r>
            <a:endParaRPr lang="en-US" sz="195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A2750D36-0D18-8918-54A3-2FBA4DDA3D7B}"/>
              </a:ext>
            </a:extLst>
          </p:cNvPr>
          <p:cNvSpPr/>
          <p:nvPr/>
        </p:nvSpPr>
        <p:spPr>
          <a:xfrm>
            <a:off x="1083588" y="4808577"/>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RecyclerView holds and manages a collection of item views, recycling them as the user scrolls to save memory and improve performance.</a:t>
            </a:r>
            <a:endParaRPr lang="en-US" sz="1550" dirty="0">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A650D189-175A-DEB9-4AF9-597EA6BA4DA8}"/>
              </a:ext>
            </a:extLst>
          </p:cNvPr>
          <p:cNvSpPr/>
          <p:nvPr/>
        </p:nvSpPr>
        <p:spPr>
          <a:xfrm>
            <a:off x="5207437" y="4158139"/>
            <a:ext cx="4215408" cy="2141815"/>
          </a:xfrm>
          <a:prstGeom prst="roundRect">
            <a:avLst>
              <a:gd name="adj" fmla="val 5123"/>
            </a:avLst>
          </a:prstGeom>
          <a:solidFill>
            <a:srgbClr val="FFFFFF">
              <a:alpha val="95000"/>
            </a:srgbClr>
          </a:solidFill>
          <a:ln w="22860">
            <a:solidFill>
              <a:srgbClr val="CECEC9"/>
            </a:solidFill>
            <a:prstDash val="solid"/>
          </a:ln>
        </p:spPr>
      </p:sp>
      <p:sp>
        <p:nvSpPr>
          <p:cNvPr id="11" name="Shape 9">
            <a:extLst>
              <a:ext uri="{FF2B5EF4-FFF2-40B4-BE49-F238E27FC236}">
                <a16:creationId xmlns:a16="http://schemas.microsoft.com/office/drawing/2014/main" id="{297B46A2-BE0E-B2BB-ACD7-08129B0BA4D4}"/>
              </a:ext>
            </a:extLst>
          </p:cNvPr>
          <p:cNvSpPr/>
          <p:nvPr/>
        </p:nvSpPr>
        <p:spPr>
          <a:xfrm>
            <a:off x="5184577" y="4158139"/>
            <a:ext cx="91440" cy="2141815"/>
          </a:xfrm>
          <a:prstGeom prst="roundRect">
            <a:avLst>
              <a:gd name="adj" fmla="val 91163"/>
            </a:avLst>
          </a:prstGeom>
          <a:solidFill>
            <a:srgbClr val="E5E5E0"/>
          </a:solidFill>
          <a:ln/>
        </p:spPr>
      </p:sp>
      <p:sp>
        <p:nvSpPr>
          <p:cNvPr id="12" name="Text 10">
            <a:extLst>
              <a:ext uri="{FF2B5EF4-FFF2-40B4-BE49-F238E27FC236}">
                <a16:creationId xmlns:a16="http://schemas.microsoft.com/office/drawing/2014/main" id="{5D452479-BD03-4E4F-CA9A-04352B8326C7}"/>
              </a:ext>
            </a:extLst>
          </p:cNvPr>
          <p:cNvSpPr/>
          <p:nvPr/>
        </p:nvSpPr>
        <p:spPr>
          <a:xfrm>
            <a:off x="5497235" y="437935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Highly Customizable</a:t>
            </a:r>
            <a:endParaRPr lang="en-US" sz="195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631BBEA6-27EC-C480-2D7C-ECE9E008C25C}"/>
              </a:ext>
            </a:extLst>
          </p:cNvPr>
          <p:cNvSpPr/>
          <p:nvPr/>
        </p:nvSpPr>
        <p:spPr>
          <a:xfrm>
            <a:off x="5497235" y="4808577"/>
            <a:ext cx="3704392"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Supports linear lists, grids, and staggered grids through different </a:t>
            </a:r>
            <a:r>
              <a:rPr lang="en-US" sz="1550" dirty="0">
                <a:solidFill>
                  <a:srgbClr val="272525"/>
                </a:solidFill>
                <a:highlight>
                  <a:srgbClr val="F2F2F2"/>
                </a:highlight>
                <a:latin typeface="Times New Roman" panose="02020603050405020304" pitchFamily="18" charset="0"/>
                <a:ea typeface="Consolas" pitchFamily="34" charset="-122"/>
                <a:cs typeface="Times New Roman" panose="02020603050405020304" pitchFamily="18" charset="0"/>
              </a:rPr>
              <a:t>LayoutManager</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options. You can also add animations and item decorations.</a:t>
            </a:r>
            <a:endParaRPr lang="en-US" sz="1550" dirty="0">
              <a:latin typeface="Times New Roman" panose="02020603050405020304" pitchFamily="18" charset="0"/>
              <a:cs typeface="Times New Roman" panose="02020603050405020304" pitchFamily="18" charset="0"/>
            </a:endParaRPr>
          </a:p>
        </p:txBody>
      </p:sp>
      <p:sp>
        <p:nvSpPr>
          <p:cNvPr id="14" name="Shape 12">
            <a:extLst>
              <a:ext uri="{FF2B5EF4-FFF2-40B4-BE49-F238E27FC236}">
                <a16:creationId xmlns:a16="http://schemas.microsoft.com/office/drawing/2014/main" id="{C4C0F6A7-ECB7-BFD8-A4FB-58579A5375B4}"/>
              </a:ext>
            </a:extLst>
          </p:cNvPr>
          <p:cNvSpPr/>
          <p:nvPr/>
        </p:nvSpPr>
        <p:spPr>
          <a:xfrm>
            <a:off x="9621203" y="4158139"/>
            <a:ext cx="4215289" cy="2141815"/>
          </a:xfrm>
          <a:prstGeom prst="roundRect">
            <a:avLst>
              <a:gd name="adj" fmla="val 5123"/>
            </a:avLst>
          </a:prstGeom>
          <a:solidFill>
            <a:srgbClr val="FFFFFF">
              <a:alpha val="95000"/>
            </a:srgbClr>
          </a:solidFill>
          <a:ln w="22860">
            <a:solidFill>
              <a:srgbClr val="CECEC9"/>
            </a:solidFill>
            <a:prstDash val="solid"/>
          </a:ln>
        </p:spPr>
      </p:sp>
      <p:sp>
        <p:nvSpPr>
          <p:cNvPr id="15" name="Shape 13">
            <a:extLst>
              <a:ext uri="{FF2B5EF4-FFF2-40B4-BE49-F238E27FC236}">
                <a16:creationId xmlns:a16="http://schemas.microsoft.com/office/drawing/2014/main" id="{EAD8DD53-D44A-BB20-370F-4A1F2AA0743E}"/>
              </a:ext>
            </a:extLst>
          </p:cNvPr>
          <p:cNvSpPr/>
          <p:nvPr/>
        </p:nvSpPr>
        <p:spPr>
          <a:xfrm>
            <a:off x="9598343" y="4158139"/>
            <a:ext cx="91440" cy="2141815"/>
          </a:xfrm>
          <a:prstGeom prst="roundRect">
            <a:avLst>
              <a:gd name="adj" fmla="val 91163"/>
            </a:avLst>
          </a:prstGeom>
          <a:solidFill>
            <a:srgbClr val="E5E5E0"/>
          </a:solidFill>
          <a:ln/>
        </p:spPr>
      </p:sp>
      <p:sp>
        <p:nvSpPr>
          <p:cNvPr id="16" name="Text 14">
            <a:extLst>
              <a:ext uri="{FF2B5EF4-FFF2-40B4-BE49-F238E27FC236}">
                <a16:creationId xmlns:a16="http://schemas.microsoft.com/office/drawing/2014/main" id="{487D119A-45D4-B566-730F-A5E804ADEA84}"/>
              </a:ext>
            </a:extLst>
          </p:cNvPr>
          <p:cNvSpPr/>
          <p:nvPr/>
        </p:nvSpPr>
        <p:spPr>
          <a:xfrm>
            <a:off x="9911001" y="437935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Part of AndroidX</a:t>
            </a:r>
            <a:endParaRPr lang="en-US" sz="1950" dirty="0">
              <a:latin typeface="Times New Roman" panose="02020603050405020304" pitchFamily="18" charset="0"/>
              <a:cs typeface="Times New Roman" panose="02020603050405020304" pitchFamily="18" charset="0"/>
            </a:endParaRPr>
          </a:p>
        </p:txBody>
      </p:sp>
      <p:sp>
        <p:nvSpPr>
          <p:cNvPr id="17" name="Text 15">
            <a:extLst>
              <a:ext uri="{FF2B5EF4-FFF2-40B4-BE49-F238E27FC236}">
                <a16:creationId xmlns:a16="http://schemas.microsoft.com/office/drawing/2014/main" id="{A6530607-9DB6-A8CD-46C0-A52625C4098C}"/>
              </a:ext>
            </a:extLst>
          </p:cNvPr>
          <p:cNvSpPr/>
          <p:nvPr/>
        </p:nvSpPr>
        <p:spPr>
          <a:xfrm>
            <a:off x="9911001" y="4808577"/>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Available via the AndroidX library, meaning it works across all modern Android versions and receives regular updates from Google.</a:t>
            </a:r>
            <a:endParaRPr lang="en-US" sz="155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A02358ED-768D-DA7C-A6FD-D5371730C058}"/>
              </a:ext>
            </a:extLst>
          </p:cNvPr>
          <p:cNvPicPr>
            <a:picLocks noChangeAspect="1"/>
          </p:cNvPicPr>
          <p:nvPr/>
        </p:nvPicPr>
        <p:blipFill>
          <a:blip r:embed="rId2">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3905454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FCB82EC-492C-DDE4-A7AD-C4E568260D16}"/>
              </a:ext>
            </a:extLst>
          </p:cNvPr>
          <p:cNvSpPr/>
          <p:nvPr/>
        </p:nvSpPr>
        <p:spPr>
          <a:xfrm>
            <a:off x="793790" y="963811"/>
            <a:ext cx="1964650" cy="373142"/>
          </a:xfrm>
          <a:prstGeom prst="roundRect">
            <a:avLst>
              <a:gd name="adj" fmla="val 17872"/>
            </a:avLst>
          </a:prstGeom>
          <a:solidFill>
            <a:srgbClr val="E8E8E3"/>
          </a:solidFill>
          <a:ln/>
        </p:spPr>
      </p:sp>
      <p:sp>
        <p:nvSpPr>
          <p:cNvPr id="3" name="Text 1">
            <a:extLst>
              <a:ext uri="{FF2B5EF4-FFF2-40B4-BE49-F238E27FC236}">
                <a16:creationId xmlns:a16="http://schemas.microsoft.com/office/drawing/2014/main" id="{48F17BE1-C686-6821-D92E-EB1218AEC10E}"/>
              </a:ext>
            </a:extLst>
          </p:cNvPr>
          <p:cNvSpPr/>
          <p:nvPr/>
        </p:nvSpPr>
        <p:spPr>
          <a:xfrm>
            <a:off x="912852" y="1023342"/>
            <a:ext cx="1726525"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Times New Roman" panose="02020603050405020304" pitchFamily="18" charset="0"/>
                <a:ea typeface="Lato" pitchFamily="34" charset="-122"/>
                <a:cs typeface="Times New Roman" panose="02020603050405020304" pitchFamily="18" charset="0"/>
              </a:rPr>
              <a:t>TOPIC 1 — CONTINUED</a:t>
            </a:r>
            <a:endParaRPr lang="en-US" sz="12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D9ECF626-43A0-43E3-2758-8BB6960D34F8}"/>
              </a:ext>
            </a:extLst>
          </p:cNvPr>
          <p:cNvSpPr/>
          <p:nvPr/>
        </p:nvSpPr>
        <p:spPr>
          <a:xfrm>
            <a:off x="793790" y="1416248"/>
            <a:ext cx="6287929"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Times New Roman" panose="02020603050405020304" pitchFamily="18" charset="0"/>
                <a:ea typeface="Gelasio" pitchFamily="34" charset="-122"/>
                <a:cs typeface="Times New Roman" panose="02020603050405020304" pitchFamily="18" charset="0"/>
              </a:rPr>
              <a:t>The Three Core Components</a:t>
            </a:r>
            <a:endParaRPr lang="en-US" sz="3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FD006AD9-FB79-0F18-0208-B8A6880367BD}"/>
              </a:ext>
            </a:extLst>
          </p:cNvPr>
          <p:cNvSpPr/>
          <p:nvPr/>
        </p:nvSpPr>
        <p:spPr>
          <a:xfrm>
            <a:off x="793790" y="233398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RecyclerView relies on three key classes working together. Understanding each one is essential to building your first list.</a:t>
            </a:r>
            <a:endParaRPr lang="en-US" sz="1550" dirty="0">
              <a:latin typeface="Times New Roman" panose="02020603050405020304" pitchFamily="18" charset="0"/>
              <a:cs typeface="Times New Roman" panose="02020603050405020304" pitchFamily="18" charset="0"/>
            </a:endParaRPr>
          </a:p>
        </p:txBody>
      </p:sp>
      <p:sp>
        <p:nvSpPr>
          <p:cNvPr id="6" name="Shape 7">
            <a:extLst>
              <a:ext uri="{FF2B5EF4-FFF2-40B4-BE49-F238E27FC236}">
                <a16:creationId xmlns:a16="http://schemas.microsoft.com/office/drawing/2014/main" id="{29771A73-5898-1001-3C3B-F6240898B952}"/>
              </a:ext>
            </a:extLst>
          </p:cNvPr>
          <p:cNvSpPr/>
          <p:nvPr/>
        </p:nvSpPr>
        <p:spPr>
          <a:xfrm>
            <a:off x="6212086" y="3098006"/>
            <a:ext cx="3716774" cy="2190631"/>
          </a:xfrm>
          <a:prstGeom prst="roundRect">
            <a:avLst>
              <a:gd name="adj" fmla="val 3805"/>
            </a:avLst>
          </a:prstGeom>
          <a:solidFill>
            <a:srgbClr val="E8E8E3"/>
          </a:solidFill>
          <a:ln w="7620">
            <a:solidFill>
              <a:srgbClr val="CECEC9"/>
            </a:solidFill>
            <a:prstDash val="solid"/>
          </a:ln>
        </p:spPr>
      </p:sp>
      <p:sp>
        <p:nvSpPr>
          <p:cNvPr id="7" name="Text 8">
            <a:extLst>
              <a:ext uri="{FF2B5EF4-FFF2-40B4-BE49-F238E27FC236}">
                <a16:creationId xmlns:a16="http://schemas.microsoft.com/office/drawing/2014/main" id="{24224834-EB09-32D7-5301-06DABEACB4FD}"/>
              </a:ext>
            </a:extLst>
          </p:cNvPr>
          <p:cNvSpPr/>
          <p:nvPr/>
        </p:nvSpPr>
        <p:spPr>
          <a:xfrm>
            <a:off x="6418064" y="330398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Adapter</a:t>
            </a:r>
            <a:endParaRPr lang="en-US" sz="1950" dirty="0">
              <a:latin typeface="Times New Roman" panose="02020603050405020304" pitchFamily="18" charset="0"/>
              <a:cs typeface="Times New Roman" panose="02020603050405020304" pitchFamily="18" charset="0"/>
            </a:endParaRPr>
          </a:p>
        </p:txBody>
      </p:sp>
      <p:sp>
        <p:nvSpPr>
          <p:cNvPr id="8" name="Text 9">
            <a:extLst>
              <a:ext uri="{FF2B5EF4-FFF2-40B4-BE49-F238E27FC236}">
                <a16:creationId xmlns:a16="http://schemas.microsoft.com/office/drawing/2014/main" id="{F4FE6970-599A-5D53-DC74-A42696F1E6DC}"/>
              </a:ext>
            </a:extLst>
          </p:cNvPr>
          <p:cNvSpPr/>
          <p:nvPr/>
        </p:nvSpPr>
        <p:spPr>
          <a:xfrm>
            <a:off x="6418064" y="3812500"/>
            <a:ext cx="3304818"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Binds your data to the item views. Tells RecyclerView how many items exist and what each one should display.</a:t>
            </a:r>
            <a:endParaRPr lang="en-US" sz="1550" dirty="0">
              <a:latin typeface="Times New Roman" panose="02020603050405020304" pitchFamily="18" charset="0"/>
              <a:cs typeface="Times New Roman" panose="02020603050405020304" pitchFamily="18" charset="0"/>
            </a:endParaRPr>
          </a:p>
        </p:txBody>
      </p:sp>
      <p:sp>
        <p:nvSpPr>
          <p:cNvPr id="9" name="Shape 10">
            <a:extLst>
              <a:ext uri="{FF2B5EF4-FFF2-40B4-BE49-F238E27FC236}">
                <a16:creationId xmlns:a16="http://schemas.microsoft.com/office/drawing/2014/main" id="{ABF83802-ABD4-8563-7433-F0886F0110A1}"/>
              </a:ext>
            </a:extLst>
          </p:cNvPr>
          <p:cNvSpPr/>
          <p:nvPr/>
        </p:nvSpPr>
        <p:spPr>
          <a:xfrm>
            <a:off x="10127218" y="3098006"/>
            <a:ext cx="3716893" cy="2190631"/>
          </a:xfrm>
          <a:prstGeom prst="roundRect">
            <a:avLst>
              <a:gd name="adj" fmla="val 3805"/>
            </a:avLst>
          </a:prstGeom>
          <a:solidFill>
            <a:srgbClr val="E8E8E3"/>
          </a:solidFill>
          <a:ln w="7620">
            <a:solidFill>
              <a:srgbClr val="CECEC9"/>
            </a:solidFill>
            <a:prstDash val="solid"/>
          </a:ln>
        </p:spPr>
      </p:sp>
      <p:sp>
        <p:nvSpPr>
          <p:cNvPr id="10" name="Text 11">
            <a:extLst>
              <a:ext uri="{FF2B5EF4-FFF2-40B4-BE49-F238E27FC236}">
                <a16:creationId xmlns:a16="http://schemas.microsoft.com/office/drawing/2014/main" id="{AB615509-DE15-B091-D4E9-062D56E49C4A}"/>
              </a:ext>
            </a:extLst>
          </p:cNvPr>
          <p:cNvSpPr/>
          <p:nvPr/>
        </p:nvSpPr>
        <p:spPr>
          <a:xfrm>
            <a:off x="10333196" y="330398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ViewHolder</a:t>
            </a:r>
            <a:endParaRPr lang="en-US" sz="1950" dirty="0">
              <a:latin typeface="Times New Roman" panose="02020603050405020304" pitchFamily="18" charset="0"/>
              <a:cs typeface="Times New Roman" panose="02020603050405020304" pitchFamily="18" charset="0"/>
            </a:endParaRPr>
          </a:p>
        </p:txBody>
      </p:sp>
      <p:sp>
        <p:nvSpPr>
          <p:cNvPr id="11" name="Text 12">
            <a:extLst>
              <a:ext uri="{FF2B5EF4-FFF2-40B4-BE49-F238E27FC236}">
                <a16:creationId xmlns:a16="http://schemas.microsoft.com/office/drawing/2014/main" id="{F9518AD0-7BD1-E633-EE68-0A5BD328B584}"/>
              </a:ext>
            </a:extLst>
          </p:cNvPr>
          <p:cNvSpPr/>
          <p:nvPr/>
        </p:nvSpPr>
        <p:spPr>
          <a:xfrm>
            <a:off x="10333196" y="3812500"/>
            <a:ext cx="3304937"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Holds references to the views inside each item layout. Reduces repeated calls to </a:t>
            </a:r>
            <a:r>
              <a:rPr lang="en-US" sz="1550" dirty="0">
                <a:solidFill>
                  <a:srgbClr val="272525"/>
                </a:solidFill>
                <a:highlight>
                  <a:srgbClr val="F2F2F2"/>
                </a:highlight>
                <a:latin typeface="Times New Roman" panose="02020603050405020304" pitchFamily="18" charset="0"/>
                <a:ea typeface="Consolas" pitchFamily="34" charset="-122"/>
                <a:cs typeface="Times New Roman" panose="02020603050405020304" pitchFamily="18" charset="0"/>
              </a:rPr>
              <a:t>findViewById()</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boosting performance.</a:t>
            </a:r>
            <a:endParaRPr lang="en-US" sz="1550" dirty="0">
              <a:latin typeface="Times New Roman" panose="02020603050405020304" pitchFamily="18" charset="0"/>
              <a:cs typeface="Times New Roman" panose="02020603050405020304" pitchFamily="18" charset="0"/>
            </a:endParaRPr>
          </a:p>
        </p:txBody>
      </p:sp>
      <p:sp>
        <p:nvSpPr>
          <p:cNvPr id="12" name="Shape 13">
            <a:extLst>
              <a:ext uri="{FF2B5EF4-FFF2-40B4-BE49-F238E27FC236}">
                <a16:creationId xmlns:a16="http://schemas.microsoft.com/office/drawing/2014/main" id="{59E317F2-37C2-E782-0D9A-9C9D6B0E6EC3}"/>
              </a:ext>
            </a:extLst>
          </p:cNvPr>
          <p:cNvSpPr/>
          <p:nvPr/>
        </p:nvSpPr>
        <p:spPr>
          <a:xfrm>
            <a:off x="6212086" y="5486995"/>
            <a:ext cx="7632025" cy="1555552"/>
          </a:xfrm>
          <a:prstGeom prst="roundRect">
            <a:avLst>
              <a:gd name="adj" fmla="val 5359"/>
            </a:avLst>
          </a:prstGeom>
          <a:solidFill>
            <a:srgbClr val="E8E8E3"/>
          </a:solidFill>
          <a:ln w="7620">
            <a:solidFill>
              <a:srgbClr val="CECEC9"/>
            </a:solidFill>
            <a:prstDash val="solid"/>
          </a:ln>
        </p:spPr>
      </p:sp>
      <p:sp>
        <p:nvSpPr>
          <p:cNvPr id="13" name="Text 14">
            <a:extLst>
              <a:ext uri="{FF2B5EF4-FFF2-40B4-BE49-F238E27FC236}">
                <a16:creationId xmlns:a16="http://schemas.microsoft.com/office/drawing/2014/main" id="{4F113D3D-FA04-798A-F6E9-D638DDE90603}"/>
              </a:ext>
            </a:extLst>
          </p:cNvPr>
          <p:cNvSpPr/>
          <p:nvPr/>
        </p:nvSpPr>
        <p:spPr>
          <a:xfrm>
            <a:off x="6418064" y="56929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LayoutManager</a:t>
            </a:r>
            <a:endParaRPr lang="en-US" sz="1950" dirty="0">
              <a:latin typeface="Times New Roman" panose="02020603050405020304" pitchFamily="18" charset="0"/>
              <a:cs typeface="Times New Roman" panose="02020603050405020304" pitchFamily="18" charset="0"/>
            </a:endParaRPr>
          </a:p>
        </p:txBody>
      </p:sp>
      <p:sp>
        <p:nvSpPr>
          <p:cNvPr id="14" name="Text 15">
            <a:extLst>
              <a:ext uri="{FF2B5EF4-FFF2-40B4-BE49-F238E27FC236}">
                <a16:creationId xmlns:a16="http://schemas.microsoft.com/office/drawing/2014/main" id="{874A6254-9032-AAEC-081A-B614C936F4A9}"/>
              </a:ext>
            </a:extLst>
          </p:cNvPr>
          <p:cNvSpPr/>
          <p:nvPr/>
        </p:nvSpPr>
        <p:spPr>
          <a:xfrm>
            <a:off x="6418064" y="6201489"/>
            <a:ext cx="722006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Controls how items are arranged — vertically, horizontally, in a grid, or staggered. You choose the layout style.</a:t>
            </a:r>
            <a:endParaRPr lang="en-US" sz="155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F3171F77-7809-41BA-60C6-9C1630DB8A6C}"/>
              </a:ext>
            </a:extLst>
          </p:cNvPr>
          <p:cNvPicPr>
            <a:picLocks noChangeAspect="1"/>
          </p:cNvPicPr>
          <p:nvPr/>
        </p:nvPicPr>
        <p:blipFill>
          <a:blip r:embed="rId2"/>
          <a:stretch>
            <a:fillRect/>
          </a:stretch>
        </p:blipFill>
        <p:spPr>
          <a:xfrm>
            <a:off x="0" y="3098006"/>
            <a:ext cx="6184882" cy="4471193"/>
          </a:xfrm>
          <a:prstGeom prst="rect">
            <a:avLst/>
          </a:prstGeom>
        </p:spPr>
      </p:pic>
      <p:pic>
        <p:nvPicPr>
          <p:cNvPr id="16" name="Picture 15">
            <a:extLst>
              <a:ext uri="{FF2B5EF4-FFF2-40B4-BE49-F238E27FC236}">
                <a16:creationId xmlns:a16="http://schemas.microsoft.com/office/drawing/2014/main" id="{8899F14A-CFEE-019E-B9C5-F38C6E7A8BCF}"/>
              </a:ext>
            </a:extLst>
          </p:cNvPr>
          <p:cNvPicPr>
            <a:picLocks noChangeAspect="1"/>
          </p:cNvPicPr>
          <p:nvPr/>
        </p:nvPicPr>
        <p:blipFill>
          <a:blip r:embed="rId3">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79196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C235A8C-C077-71AC-DCE9-A091CF4BA29C}"/>
              </a:ext>
            </a:extLst>
          </p:cNvPr>
          <p:cNvSpPr/>
          <p:nvPr/>
        </p:nvSpPr>
        <p:spPr>
          <a:xfrm>
            <a:off x="793790" y="947618"/>
            <a:ext cx="827842" cy="373142"/>
          </a:xfrm>
          <a:prstGeom prst="roundRect">
            <a:avLst>
              <a:gd name="adj" fmla="val 17872"/>
            </a:avLst>
          </a:prstGeom>
          <a:solidFill>
            <a:srgbClr val="E8E8E3"/>
          </a:solidFill>
          <a:ln/>
        </p:spPr>
      </p:sp>
      <p:sp>
        <p:nvSpPr>
          <p:cNvPr id="3" name="Text 1">
            <a:extLst>
              <a:ext uri="{FF2B5EF4-FFF2-40B4-BE49-F238E27FC236}">
                <a16:creationId xmlns:a16="http://schemas.microsoft.com/office/drawing/2014/main" id="{00D6FC4B-FB54-1B40-DAB7-0EEFDCA98782}"/>
              </a:ext>
            </a:extLst>
          </p:cNvPr>
          <p:cNvSpPr/>
          <p:nvPr/>
        </p:nvSpPr>
        <p:spPr>
          <a:xfrm>
            <a:off x="912852" y="1007150"/>
            <a:ext cx="589717"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Times New Roman" panose="02020603050405020304" pitchFamily="18" charset="0"/>
                <a:ea typeface="Lato" pitchFamily="34" charset="-122"/>
                <a:cs typeface="Times New Roman" panose="02020603050405020304" pitchFamily="18" charset="0"/>
              </a:rPr>
              <a:t>TOPIC 2</a:t>
            </a:r>
            <a:endParaRPr lang="en-US" sz="12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3745758B-4C03-225B-6369-5F53B81AFCF8}"/>
              </a:ext>
            </a:extLst>
          </p:cNvPr>
          <p:cNvSpPr/>
          <p:nvPr/>
        </p:nvSpPr>
        <p:spPr>
          <a:xfrm>
            <a:off x="793790" y="1400056"/>
            <a:ext cx="8670250"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Times New Roman" panose="02020603050405020304" pitchFamily="18" charset="0"/>
                <a:ea typeface="Gelasio" pitchFamily="34" charset="-122"/>
                <a:cs typeface="Times New Roman" panose="02020603050405020304" pitchFamily="18" charset="0"/>
              </a:rPr>
              <a:t>Why RecyclerView Instead of ListView?</a:t>
            </a:r>
            <a:endParaRPr lang="en-US" sz="3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6AEE061E-C0B4-F794-6902-10CB2D934485}"/>
              </a:ext>
            </a:extLst>
          </p:cNvPr>
          <p:cNvSpPr/>
          <p:nvPr/>
        </p:nvSpPr>
        <p:spPr>
          <a:xfrm>
            <a:off x="793790" y="23177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ListView was the standard list component for years, but RecyclerView was designed to solve its limitations. Here's why RecyclerView is the better choice for modern Android development.</a:t>
            </a:r>
            <a:endParaRPr lang="en-US" sz="1550" dirty="0">
              <a:latin typeface="Times New Roman" panose="02020603050405020304" pitchFamily="18" charset="0"/>
              <a:cs typeface="Times New Roman" panose="02020603050405020304" pitchFamily="18" charset="0"/>
            </a:endParaRPr>
          </a:p>
        </p:txBody>
      </p:sp>
      <p:sp>
        <p:nvSpPr>
          <p:cNvPr id="6" name="Shape 4">
            <a:extLst>
              <a:ext uri="{FF2B5EF4-FFF2-40B4-BE49-F238E27FC236}">
                <a16:creationId xmlns:a16="http://schemas.microsoft.com/office/drawing/2014/main" id="{31BCF6C0-F8D0-2D72-520F-738643BB33F9}"/>
              </a:ext>
            </a:extLst>
          </p:cNvPr>
          <p:cNvSpPr/>
          <p:nvPr/>
        </p:nvSpPr>
        <p:spPr>
          <a:xfrm>
            <a:off x="793790" y="3176111"/>
            <a:ext cx="13042821" cy="2721769"/>
          </a:xfrm>
          <a:prstGeom prst="roundRect">
            <a:avLst>
              <a:gd name="adj" fmla="val 3063"/>
            </a:avLst>
          </a:prstGeom>
          <a:solidFill>
            <a:srgbClr val="E8E8E3"/>
          </a:solidFill>
          <a:ln w="7620">
            <a:solidFill>
              <a:srgbClr val="CECEC9"/>
            </a:solidFill>
            <a:prstDash val="solid"/>
          </a:ln>
        </p:spPr>
      </p:sp>
      <p:sp>
        <p:nvSpPr>
          <p:cNvPr id="7" name="Shape 5">
            <a:extLst>
              <a:ext uri="{FF2B5EF4-FFF2-40B4-BE49-F238E27FC236}">
                <a16:creationId xmlns:a16="http://schemas.microsoft.com/office/drawing/2014/main" id="{2FA3E1B4-D15E-7AAD-D506-8B0B6C32D9C0}"/>
              </a:ext>
            </a:extLst>
          </p:cNvPr>
          <p:cNvSpPr/>
          <p:nvPr/>
        </p:nvSpPr>
        <p:spPr>
          <a:xfrm>
            <a:off x="801410" y="3183731"/>
            <a:ext cx="6513790" cy="2706529"/>
          </a:xfrm>
          <a:prstGeom prst="roundRect">
            <a:avLst>
              <a:gd name="adj" fmla="val 3080"/>
            </a:avLst>
          </a:prstGeom>
          <a:solidFill>
            <a:srgbClr val="E8E8E3"/>
          </a:solidFill>
          <a:ln/>
        </p:spPr>
      </p:sp>
      <p:sp>
        <p:nvSpPr>
          <p:cNvPr id="8" name="Text 6">
            <a:extLst>
              <a:ext uri="{FF2B5EF4-FFF2-40B4-BE49-F238E27FC236}">
                <a16:creationId xmlns:a16="http://schemas.microsoft.com/office/drawing/2014/main" id="{D264E49A-5C2D-5361-C232-70E36A83A33B}"/>
              </a:ext>
            </a:extLst>
          </p:cNvPr>
          <p:cNvSpPr/>
          <p:nvPr/>
        </p:nvSpPr>
        <p:spPr>
          <a:xfrm>
            <a:off x="999768" y="3382089"/>
            <a:ext cx="2654022" cy="32539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Times New Roman" panose="02020603050405020304" pitchFamily="18" charset="0"/>
                <a:ea typeface="Gelasio" pitchFamily="34" charset="-122"/>
                <a:cs typeface="Times New Roman" panose="02020603050405020304" pitchFamily="18" charset="0"/>
              </a:rPr>
              <a:t>❌</a:t>
            </a: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 ListView Limitations</a:t>
            </a:r>
            <a:endParaRPr lang="en-US" sz="195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7C51EC5C-BC40-F4ED-E284-3C9C3B8DC0EB}"/>
              </a:ext>
            </a:extLst>
          </p:cNvPr>
          <p:cNvSpPr/>
          <p:nvPr/>
        </p:nvSpPr>
        <p:spPr>
          <a:xfrm>
            <a:off x="999768" y="3826550"/>
            <a:ext cx="6117074" cy="18653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No built-in ViewHolder pattern enforcement</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Limited layout options (vertical list only)</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No built-in support for item animations</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Poor performance with very large datasets</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Difficult to customize item decorations</a:t>
            </a:r>
            <a:endParaRPr lang="en-US" sz="1550" dirty="0">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D6ED79D7-A821-5668-3E72-2AE5FCB23858}"/>
              </a:ext>
            </a:extLst>
          </p:cNvPr>
          <p:cNvSpPr/>
          <p:nvPr/>
        </p:nvSpPr>
        <p:spPr>
          <a:xfrm>
            <a:off x="7315200" y="3183731"/>
            <a:ext cx="6513790" cy="2706529"/>
          </a:xfrm>
          <a:prstGeom prst="rect">
            <a:avLst/>
          </a:prstGeom>
          <a:solidFill>
            <a:srgbClr val="E8E8E3"/>
          </a:solidFill>
          <a:ln/>
        </p:spPr>
      </p:sp>
      <p:sp>
        <p:nvSpPr>
          <p:cNvPr id="11" name="Shape 9">
            <a:extLst>
              <a:ext uri="{FF2B5EF4-FFF2-40B4-BE49-F238E27FC236}">
                <a16:creationId xmlns:a16="http://schemas.microsoft.com/office/drawing/2014/main" id="{23065420-B15B-46CB-073A-D444AF155580}"/>
              </a:ext>
            </a:extLst>
          </p:cNvPr>
          <p:cNvSpPr/>
          <p:nvPr/>
        </p:nvSpPr>
        <p:spPr>
          <a:xfrm>
            <a:off x="7315200" y="3183731"/>
            <a:ext cx="22860" cy="2706529"/>
          </a:xfrm>
          <a:prstGeom prst="roundRect">
            <a:avLst>
              <a:gd name="adj" fmla="val 364651"/>
            </a:avLst>
          </a:prstGeom>
          <a:solidFill>
            <a:srgbClr val="CECEC9"/>
          </a:solidFill>
          <a:ln/>
        </p:spPr>
      </p:sp>
      <p:sp>
        <p:nvSpPr>
          <p:cNvPr id="12" name="Text 10">
            <a:extLst>
              <a:ext uri="{FF2B5EF4-FFF2-40B4-BE49-F238E27FC236}">
                <a16:creationId xmlns:a16="http://schemas.microsoft.com/office/drawing/2014/main" id="{5E8F90DA-88BA-3E6F-1727-505E892F25C0}"/>
              </a:ext>
            </a:extLst>
          </p:cNvPr>
          <p:cNvSpPr/>
          <p:nvPr/>
        </p:nvSpPr>
        <p:spPr>
          <a:xfrm>
            <a:off x="7513558" y="3382089"/>
            <a:ext cx="3170277" cy="32539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Times New Roman" panose="02020603050405020304" pitchFamily="18" charset="0"/>
                <a:ea typeface="Gelasio" pitchFamily="34" charset="-122"/>
                <a:cs typeface="Times New Roman" panose="02020603050405020304" pitchFamily="18" charset="0"/>
              </a:rPr>
              <a:t>✅</a:t>
            </a:r>
            <a:r>
              <a:rPr lang="en-US" sz="1950" dirty="0">
                <a:solidFill>
                  <a:srgbClr val="272525"/>
                </a:solidFill>
                <a:latin typeface="Times New Roman" panose="02020603050405020304" pitchFamily="18" charset="0"/>
                <a:ea typeface="Gelasio" pitchFamily="34" charset="-122"/>
                <a:cs typeface="Times New Roman" panose="02020603050405020304" pitchFamily="18" charset="0"/>
              </a:rPr>
              <a:t> RecyclerView Advantages</a:t>
            </a:r>
            <a:endParaRPr lang="en-US" sz="195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DCB25FBC-053C-5DFC-5B0D-7F4F46DBF60A}"/>
              </a:ext>
            </a:extLst>
          </p:cNvPr>
          <p:cNvSpPr/>
          <p:nvPr/>
        </p:nvSpPr>
        <p:spPr>
          <a:xfrm>
            <a:off x="7513558" y="3826550"/>
            <a:ext cx="6117074" cy="18653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Enforces ViewHolder pattern for better performance</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Supports linear, grid, and staggered layouts</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Built-in support for smooth item animations</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Efficient view recycling out of the box</a:t>
            </a:r>
            <a:endParaRPr lang="en-US" sz="1550" dirty="0">
              <a:latin typeface="Times New Roman" panose="02020603050405020304" pitchFamily="18" charset="0"/>
              <a:cs typeface="Times New Roman" panose="02020603050405020304" pitchFamily="18" charset="0"/>
            </a:endParaRPr>
          </a:p>
          <a:p>
            <a:pPr marL="342900" indent="-342900" algn="l">
              <a:lnSpc>
                <a:spcPts val="2500"/>
              </a:lnSpc>
              <a:buSzPct val="100000"/>
              <a:buChar char="•"/>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Flexible item decorations and touch handling</a:t>
            </a:r>
            <a:endParaRPr lang="en-US" sz="1550" dirty="0">
              <a:latin typeface="Times New Roman" panose="02020603050405020304" pitchFamily="18" charset="0"/>
              <a:cs typeface="Times New Roman" panose="02020603050405020304" pitchFamily="18" charset="0"/>
            </a:endParaRPr>
          </a:p>
        </p:txBody>
      </p:sp>
      <p:sp>
        <p:nvSpPr>
          <p:cNvPr id="14" name="Shape 12">
            <a:extLst>
              <a:ext uri="{FF2B5EF4-FFF2-40B4-BE49-F238E27FC236}">
                <a16:creationId xmlns:a16="http://schemas.microsoft.com/office/drawing/2014/main" id="{CD9C3CD2-5903-11C9-C24D-680B1510D13A}"/>
              </a:ext>
            </a:extLst>
          </p:cNvPr>
          <p:cNvSpPr/>
          <p:nvPr/>
        </p:nvSpPr>
        <p:spPr>
          <a:xfrm>
            <a:off x="793790" y="6121122"/>
            <a:ext cx="13042821" cy="1160740"/>
          </a:xfrm>
          <a:prstGeom prst="roundRect">
            <a:avLst>
              <a:gd name="adj" fmla="val 7182"/>
            </a:avLst>
          </a:prstGeom>
          <a:solidFill>
            <a:srgbClr val="B6D6FC"/>
          </a:solidFill>
          <a:ln/>
        </p:spPr>
      </p:sp>
      <p:pic>
        <p:nvPicPr>
          <p:cNvPr id="15" name="Image 0" descr="preencoded.png">
            <a:extLst>
              <a:ext uri="{FF2B5EF4-FFF2-40B4-BE49-F238E27FC236}">
                <a16:creationId xmlns:a16="http://schemas.microsoft.com/office/drawing/2014/main" id="{96E3E91F-9009-031E-48BA-D4ADD47B004C}"/>
              </a:ext>
            </a:extLst>
          </p:cNvPr>
          <p:cNvPicPr>
            <a:picLocks noChangeAspect="1"/>
          </p:cNvPicPr>
          <p:nvPr/>
        </p:nvPicPr>
        <p:blipFill>
          <a:blip r:embed="rId2"/>
          <a:stretch>
            <a:fillRect/>
          </a:stretch>
        </p:blipFill>
        <p:spPr>
          <a:xfrm>
            <a:off x="992148" y="6424017"/>
            <a:ext cx="248007" cy="198358"/>
          </a:xfrm>
          <a:prstGeom prst="rect">
            <a:avLst/>
          </a:prstGeom>
        </p:spPr>
      </p:pic>
      <p:sp>
        <p:nvSpPr>
          <p:cNvPr id="16" name="Text 13">
            <a:extLst>
              <a:ext uri="{FF2B5EF4-FFF2-40B4-BE49-F238E27FC236}">
                <a16:creationId xmlns:a16="http://schemas.microsoft.com/office/drawing/2014/main" id="{DBEAE2F9-1E8B-9CD8-6AA2-7936F1F05758}"/>
              </a:ext>
            </a:extLst>
          </p:cNvPr>
          <p:cNvSpPr/>
          <p:nvPr/>
        </p:nvSpPr>
        <p:spPr>
          <a:xfrm>
            <a:off x="1438513" y="6369010"/>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Times New Roman" panose="02020603050405020304" pitchFamily="18" charset="0"/>
                <a:ea typeface="Lato" pitchFamily="34" charset="-122"/>
                <a:cs typeface="Times New Roman" panose="02020603050405020304" pitchFamily="18" charset="0"/>
              </a:rPr>
              <a:t>Key takeaway:</a:t>
            </a:r>
            <a:r>
              <a:rPr lang="en-US" sz="1550" dirty="0">
                <a:solidFill>
                  <a:srgbClr val="000000"/>
                </a:solidFill>
                <a:latin typeface="Times New Roman" panose="02020603050405020304" pitchFamily="18" charset="0"/>
                <a:ea typeface="Lato" pitchFamily="34" charset="-122"/>
                <a:cs typeface="Times New Roman" panose="02020603050405020304" pitchFamily="18" charset="0"/>
              </a:rPr>
              <a:t> RecyclerView isn't just an upgrade — it's a complete redesign that gives developers far more control and flexibility over list-based UIs.</a:t>
            </a:r>
            <a:endParaRPr lang="en-US" sz="155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D052A720-C302-DA4D-254A-F02BA8249156}"/>
              </a:ext>
            </a:extLst>
          </p:cNvPr>
          <p:cNvPicPr>
            <a:picLocks noChangeAspect="1"/>
          </p:cNvPicPr>
          <p:nvPr/>
        </p:nvPicPr>
        <p:blipFill>
          <a:blip r:embed="rId3">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2928253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CA9C26A-993D-63CF-A649-AC435C2BE3E6}"/>
              </a:ext>
            </a:extLst>
          </p:cNvPr>
          <p:cNvSpPr/>
          <p:nvPr/>
        </p:nvSpPr>
        <p:spPr>
          <a:xfrm>
            <a:off x="793790" y="1114068"/>
            <a:ext cx="827842" cy="373142"/>
          </a:xfrm>
          <a:prstGeom prst="roundRect">
            <a:avLst>
              <a:gd name="adj" fmla="val 17872"/>
            </a:avLst>
          </a:prstGeom>
          <a:solidFill>
            <a:srgbClr val="E8E8E3"/>
          </a:solidFill>
          <a:ln/>
        </p:spPr>
      </p:sp>
      <p:sp>
        <p:nvSpPr>
          <p:cNvPr id="3" name="Text 1">
            <a:extLst>
              <a:ext uri="{FF2B5EF4-FFF2-40B4-BE49-F238E27FC236}">
                <a16:creationId xmlns:a16="http://schemas.microsoft.com/office/drawing/2014/main" id="{55E90BF8-204D-D7A4-13D8-AEEAE6DBDD93}"/>
              </a:ext>
            </a:extLst>
          </p:cNvPr>
          <p:cNvSpPr/>
          <p:nvPr/>
        </p:nvSpPr>
        <p:spPr>
          <a:xfrm>
            <a:off x="912852" y="1173599"/>
            <a:ext cx="589717"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Times New Roman" panose="02020603050405020304" pitchFamily="18" charset="0"/>
                <a:ea typeface="Lato" pitchFamily="34" charset="-122"/>
                <a:cs typeface="Times New Roman" panose="02020603050405020304" pitchFamily="18" charset="0"/>
              </a:rPr>
              <a:t>TOPIC 3</a:t>
            </a:r>
            <a:endParaRPr lang="en-US" sz="12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453D400E-47DC-2227-BBBC-179BFA042FE4}"/>
              </a:ext>
            </a:extLst>
          </p:cNvPr>
          <p:cNvSpPr/>
          <p:nvPr/>
        </p:nvSpPr>
        <p:spPr>
          <a:xfrm>
            <a:off x="793790" y="1566505"/>
            <a:ext cx="8082320"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Times New Roman" panose="02020603050405020304" pitchFamily="18" charset="0"/>
                <a:ea typeface="Gelasio" pitchFamily="34" charset="-122"/>
                <a:cs typeface="Times New Roman" panose="02020603050405020304" pitchFamily="18" charset="0"/>
              </a:rPr>
              <a:t>Displaying Large Datasets Efficiently</a:t>
            </a:r>
            <a:endParaRPr lang="en-US" sz="3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D7B72C17-907A-D352-C245-3C072223C3D9}"/>
              </a:ext>
            </a:extLst>
          </p:cNvPr>
          <p:cNvSpPr/>
          <p:nvPr/>
        </p:nvSpPr>
        <p:spPr>
          <a:xfrm>
            <a:off x="793790" y="248423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One of RecyclerView's greatest strengths is how it handles thousands of items without slowing down your app. The secret lies in </a:t>
            </a:r>
            <a:r>
              <a:rPr lang="en-US" sz="1550" b="1" dirty="0">
                <a:solidFill>
                  <a:srgbClr val="272525"/>
                </a:solidFill>
                <a:latin typeface="Times New Roman" panose="02020603050405020304" pitchFamily="18" charset="0"/>
                <a:ea typeface="Lato" pitchFamily="34" charset="-122"/>
                <a:cs typeface="Times New Roman" panose="02020603050405020304" pitchFamily="18" charset="0"/>
              </a:rPr>
              <a:t>view recycling</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a:t>
            </a:r>
            <a:endParaRPr lang="en-US" sz="155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A36BB653-648A-A82B-4E18-A2E1D7C69BD6}"/>
              </a:ext>
            </a:extLst>
          </p:cNvPr>
          <p:cNvSpPr/>
          <p:nvPr/>
        </p:nvSpPr>
        <p:spPr>
          <a:xfrm>
            <a:off x="849273" y="3223379"/>
            <a:ext cx="2480905" cy="32539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Times New Roman" panose="02020603050405020304" pitchFamily="18" charset="0"/>
                <a:ea typeface="Gelasio" pitchFamily="34" charset="-122"/>
                <a:cs typeface="Times New Roman" panose="02020603050405020304" pitchFamily="18" charset="0"/>
              </a:rPr>
              <a:t>📸</a:t>
            </a:r>
            <a:r>
              <a:rPr lang="en-US" sz="1950" dirty="0">
                <a:solidFill>
                  <a:srgbClr val="312F2B"/>
                </a:solidFill>
                <a:latin typeface="Times New Roman" panose="02020603050405020304" pitchFamily="18" charset="0"/>
                <a:ea typeface="Gelasio" pitchFamily="34" charset="-122"/>
                <a:cs typeface="Times New Roman" panose="02020603050405020304" pitchFamily="18" charset="0"/>
              </a:rPr>
              <a:t> Image Placeholder</a:t>
            </a:r>
            <a:endParaRPr lang="en-US" sz="195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93686780-5AF5-5A9E-1318-A12B1B653D2A}"/>
              </a:ext>
            </a:extLst>
          </p:cNvPr>
          <p:cNvSpPr/>
          <p:nvPr/>
        </p:nvSpPr>
        <p:spPr>
          <a:xfrm>
            <a:off x="849273" y="3747135"/>
            <a:ext cx="4815602"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Add an illustration showing how off-screen views are recycled and reused as the user scrolls through a long list.</a:t>
            </a:r>
            <a:endParaRPr lang="en-US" sz="155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C9DF6090-C8A1-4885-CBE7-828AAB61CBEC}"/>
              </a:ext>
            </a:extLst>
          </p:cNvPr>
          <p:cNvSpPr/>
          <p:nvPr/>
        </p:nvSpPr>
        <p:spPr>
          <a:xfrm>
            <a:off x="6212086" y="3223379"/>
            <a:ext cx="3013829"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Times New Roman" panose="02020603050405020304" pitchFamily="18" charset="0"/>
                <a:ea typeface="Gelasio" pitchFamily="34" charset="-122"/>
                <a:cs typeface="Times New Roman" panose="02020603050405020304" pitchFamily="18" charset="0"/>
              </a:rPr>
              <a:t>How View Recycling Works</a:t>
            </a:r>
            <a:endParaRPr lang="en-US" sz="195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69CC0B9A-0D16-9579-D1A8-CC07DEFB08E2}"/>
              </a:ext>
            </a:extLst>
          </p:cNvPr>
          <p:cNvSpPr/>
          <p:nvPr/>
        </p:nvSpPr>
        <p:spPr>
          <a:xfrm>
            <a:off x="6212086" y="3731895"/>
            <a:ext cx="763202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Instead of creating a new view for every single item, RecyclerView creates only enough views to fill the screen. As items scroll off-screen, their views are </a:t>
            </a:r>
            <a:r>
              <a:rPr lang="en-US" sz="1550" b="1" dirty="0">
                <a:solidFill>
                  <a:srgbClr val="272525"/>
                </a:solidFill>
                <a:latin typeface="Times New Roman" panose="02020603050405020304" pitchFamily="18" charset="0"/>
                <a:ea typeface="Lato" pitchFamily="34" charset="-122"/>
                <a:cs typeface="Times New Roman" panose="02020603050405020304" pitchFamily="18" charset="0"/>
              </a:rPr>
              <a:t>reused</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(recycled) for newly visible items.</a:t>
            </a:r>
            <a:endParaRPr lang="en-US" sz="1550" dirty="0">
              <a:latin typeface="Times New Roman" panose="02020603050405020304" pitchFamily="18" charset="0"/>
              <a:cs typeface="Times New Roman" panose="02020603050405020304" pitchFamily="18" charset="0"/>
            </a:endParaRPr>
          </a:p>
        </p:txBody>
      </p:sp>
      <p:pic>
        <p:nvPicPr>
          <p:cNvPr id="11" name="Image 0" descr="preencoded.png">
            <a:extLst>
              <a:ext uri="{FF2B5EF4-FFF2-40B4-BE49-F238E27FC236}">
                <a16:creationId xmlns:a16="http://schemas.microsoft.com/office/drawing/2014/main" id="{1277CAB9-8D3C-1B55-6FC9-9DD516F5D7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86500" y="4917519"/>
            <a:ext cx="297656" cy="297656"/>
          </a:xfrm>
          <a:prstGeom prst="rect">
            <a:avLst/>
          </a:prstGeom>
        </p:spPr>
      </p:pic>
      <p:sp>
        <p:nvSpPr>
          <p:cNvPr id="12" name="Text 9">
            <a:extLst>
              <a:ext uri="{FF2B5EF4-FFF2-40B4-BE49-F238E27FC236}">
                <a16:creationId xmlns:a16="http://schemas.microsoft.com/office/drawing/2014/main" id="{AC2CA9B7-3C50-BBE9-E076-D2CB80DC9DDE}"/>
              </a:ext>
            </a:extLst>
          </p:cNvPr>
          <p:cNvSpPr/>
          <p:nvPr/>
        </p:nvSpPr>
        <p:spPr>
          <a:xfrm>
            <a:off x="6856928" y="4907756"/>
            <a:ext cx="304716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Only </a:t>
            </a:r>
            <a:r>
              <a:rPr lang="en-US" sz="1550" b="1" dirty="0">
                <a:solidFill>
                  <a:srgbClr val="272525"/>
                </a:solidFill>
                <a:latin typeface="Times New Roman" panose="02020603050405020304" pitchFamily="18" charset="0"/>
                <a:ea typeface="Lato" pitchFamily="34" charset="-122"/>
                <a:cs typeface="Times New Roman" panose="02020603050405020304" pitchFamily="18" charset="0"/>
              </a:rPr>
              <a:t>~10–15 ViewHolder</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objects exist in memory at any time, regardless of dataset size</a:t>
            </a:r>
            <a:endParaRPr lang="en-US" sz="1550" dirty="0">
              <a:latin typeface="Times New Roman" panose="02020603050405020304" pitchFamily="18" charset="0"/>
              <a:cs typeface="Times New Roman" panose="02020603050405020304" pitchFamily="18" charset="0"/>
            </a:endParaRPr>
          </a:p>
        </p:txBody>
      </p:sp>
      <p:pic>
        <p:nvPicPr>
          <p:cNvPr id="13" name="Image 1" descr="preencoded.png">
            <a:extLst>
              <a:ext uri="{FF2B5EF4-FFF2-40B4-BE49-F238E27FC236}">
                <a16:creationId xmlns:a16="http://schemas.microsoft.com/office/drawing/2014/main" id="{4DB8F4D2-AFA6-2ED6-6E36-A52D76064D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26516" y="4917519"/>
            <a:ext cx="297656" cy="297656"/>
          </a:xfrm>
          <a:prstGeom prst="rect">
            <a:avLst/>
          </a:prstGeom>
        </p:spPr>
      </p:pic>
      <p:sp>
        <p:nvSpPr>
          <p:cNvPr id="14" name="Text 10">
            <a:extLst>
              <a:ext uri="{FF2B5EF4-FFF2-40B4-BE49-F238E27FC236}">
                <a16:creationId xmlns:a16="http://schemas.microsoft.com/office/drawing/2014/main" id="{906A44E7-FF8A-7C58-AB7D-47B591C1E9C8}"/>
              </a:ext>
            </a:extLst>
          </p:cNvPr>
          <p:cNvSpPr/>
          <p:nvPr/>
        </p:nvSpPr>
        <p:spPr>
          <a:xfrm>
            <a:off x="10796945" y="4907756"/>
            <a:ext cx="304716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Off-screen views are passed to </a:t>
            </a:r>
            <a:r>
              <a:rPr lang="en-US" sz="1550" dirty="0">
                <a:solidFill>
                  <a:srgbClr val="272525"/>
                </a:solidFill>
                <a:highlight>
                  <a:srgbClr val="F2F2F2"/>
                </a:highlight>
                <a:latin typeface="Times New Roman" panose="02020603050405020304" pitchFamily="18" charset="0"/>
                <a:ea typeface="Consolas" pitchFamily="34" charset="-122"/>
                <a:cs typeface="Times New Roman" panose="02020603050405020304" pitchFamily="18" charset="0"/>
              </a:rPr>
              <a:t>onBindViewHolder()</a:t>
            </a: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 to be updated with new data</a:t>
            </a:r>
            <a:endParaRPr lang="en-US" sz="1550" dirty="0">
              <a:latin typeface="Times New Roman" panose="02020603050405020304" pitchFamily="18" charset="0"/>
              <a:cs typeface="Times New Roman" panose="02020603050405020304" pitchFamily="18" charset="0"/>
            </a:endParaRPr>
          </a:p>
        </p:txBody>
      </p:sp>
      <p:pic>
        <p:nvPicPr>
          <p:cNvPr id="15" name="Image 2" descr="preencoded.png">
            <a:extLst>
              <a:ext uri="{FF2B5EF4-FFF2-40B4-BE49-F238E27FC236}">
                <a16:creationId xmlns:a16="http://schemas.microsoft.com/office/drawing/2014/main" id="{2926EB54-0AD1-3FC5-FE7C-4E500B982F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86500" y="6266974"/>
            <a:ext cx="297656" cy="297656"/>
          </a:xfrm>
          <a:prstGeom prst="rect">
            <a:avLst/>
          </a:prstGeom>
        </p:spPr>
      </p:pic>
      <p:sp>
        <p:nvSpPr>
          <p:cNvPr id="16" name="Text 11">
            <a:extLst>
              <a:ext uri="{FF2B5EF4-FFF2-40B4-BE49-F238E27FC236}">
                <a16:creationId xmlns:a16="http://schemas.microsoft.com/office/drawing/2014/main" id="{D0D9004D-9667-70D8-1B0B-98756BA93369}"/>
              </a:ext>
            </a:extLst>
          </p:cNvPr>
          <p:cNvSpPr/>
          <p:nvPr/>
        </p:nvSpPr>
        <p:spPr>
          <a:xfrm>
            <a:off x="6856928" y="6257211"/>
            <a:ext cx="6987183"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Times New Roman" panose="02020603050405020304" pitchFamily="18" charset="0"/>
                <a:ea typeface="Lato" pitchFamily="34" charset="-122"/>
                <a:cs typeface="Times New Roman" panose="02020603050405020304" pitchFamily="18" charset="0"/>
              </a:rPr>
              <a:t>This dramatically reduces memory usage and keeps scrolling smooth even with 10,000+ items</a:t>
            </a:r>
            <a:endParaRPr lang="en-US" sz="155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8E9E9B9-14C5-57B7-D437-FF538D190A29}"/>
              </a:ext>
            </a:extLst>
          </p:cNvPr>
          <p:cNvPicPr>
            <a:picLocks noChangeAspect="1"/>
          </p:cNvPicPr>
          <p:nvPr/>
        </p:nvPicPr>
        <p:blipFill>
          <a:blip r:embed="rId3"/>
          <a:stretch>
            <a:fillRect/>
          </a:stretch>
        </p:blipFill>
        <p:spPr>
          <a:xfrm>
            <a:off x="701778" y="3073681"/>
            <a:ext cx="5237535" cy="4828478"/>
          </a:xfrm>
          <a:prstGeom prst="rect">
            <a:avLst/>
          </a:prstGeom>
        </p:spPr>
      </p:pic>
      <p:pic>
        <p:nvPicPr>
          <p:cNvPr id="18" name="Picture 17">
            <a:extLst>
              <a:ext uri="{FF2B5EF4-FFF2-40B4-BE49-F238E27FC236}">
                <a16:creationId xmlns:a16="http://schemas.microsoft.com/office/drawing/2014/main" id="{CC5CF684-4626-B82B-E82C-1CD9FD78CAA8}"/>
              </a:ext>
            </a:extLst>
          </p:cNvPr>
          <p:cNvPicPr>
            <a:picLocks noChangeAspect="1"/>
          </p:cNvPicPr>
          <p:nvPr/>
        </p:nvPicPr>
        <p:blipFill>
          <a:blip r:embed="rId4">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3040041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6894E46-2204-0126-32A3-4AAEDF5C42E8}"/>
              </a:ext>
            </a:extLst>
          </p:cNvPr>
          <p:cNvSpPr/>
          <p:nvPr/>
        </p:nvSpPr>
        <p:spPr>
          <a:xfrm>
            <a:off x="793790" y="739021"/>
            <a:ext cx="1375172" cy="234553"/>
          </a:xfrm>
          <a:prstGeom prst="roundRect">
            <a:avLst>
              <a:gd name="adj" fmla="val 19902"/>
            </a:avLst>
          </a:prstGeom>
          <a:solidFill>
            <a:srgbClr val="E8E8E3"/>
          </a:solidFill>
          <a:ln/>
        </p:spPr>
      </p:sp>
      <p:sp>
        <p:nvSpPr>
          <p:cNvPr id="3" name="Text 1">
            <a:extLst>
              <a:ext uri="{FF2B5EF4-FFF2-40B4-BE49-F238E27FC236}">
                <a16:creationId xmlns:a16="http://schemas.microsoft.com/office/drawing/2014/main" id="{5407C8BD-104A-0E0D-35A5-B2A1E9A5E1B5}"/>
              </a:ext>
            </a:extLst>
          </p:cNvPr>
          <p:cNvSpPr/>
          <p:nvPr/>
        </p:nvSpPr>
        <p:spPr>
          <a:xfrm>
            <a:off x="877133" y="780693"/>
            <a:ext cx="1208484" cy="151209"/>
          </a:xfrm>
          <a:prstGeom prst="rect">
            <a:avLst/>
          </a:prstGeom>
          <a:noFill/>
          <a:ln/>
        </p:spPr>
        <p:txBody>
          <a:bodyPr wrap="none" lIns="0" tIns="0" rIns="0" bIns="0" rtlCol="0" anchor="t"/>
          <a:lstStyle/>
          <a:p>
            <a:pPr marL="0" indent="0" algn="l">
              <a:lnSpc>
                <a:spcPts val="1150"/>
              </a:lnSpc>
              <a:buNone/>
            </a:pPr>
            <a:r>
              <a:rPr lang="en-US" sz="850" dirty="0">
                <a:solidFill>
                  <a:srgbClr val="272525"/>
                </a:solidFill>
                <a:latin typeface="Times New Roman" panose="02020603050405020304" pitchFamily="18" charset="0"/>
                <a:ea typeface="Lato" pitchFamily="34" charset="-122"/>
                <a:cs typeface="Times New Roman" panose="02020603050405020304" pitchFamily="18" charset="0"/>
              </a:rPr>
              <a:t>TOPIC 3 — CONTINUED</a:t>
            </a:r>
            <a:endParaRPr lang="en-US" sz="8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078AC4B6-DA29-431F-180D-5A9006A4D6DC}"/>
              </a:ext>
            </a:extLst>
          </p:cNvPr>
          <p:cNvSpPr/>
          <p:nvPr/>
        </p:nvSpPr>
        <p:spPr>
          <a:xfrm>
            <a:off x="793790" y="1012388"/>
            <a:ext cx="5972651" cy="434102"/>
          </a:xfrm>
          <a:prstGeom prst="rect">
            <a:avLst/>
          </a:prstGeom>
          <a:noFill/>
          <a:ln/>
        </p:spPr>
        <p:txBody>
          <a:bodyPr wrap="none" lIns="0" tIns="0" rIns="0" bIns="0" rtlCol="0" anchor="t"/>
          <a:lstStyle/>
          <a:p>
            <a:pPr marL="0" indent="0" algn="l">
              <a:lnSpc>
                <a:spcPts val="3400"/>
              </a:lnSpc>
              <a:buNone/>
            </a:pPr>
            <a:r>
              <a:rPr lang="en-US" sz="2700" dirty="0">
                <a:solidFill>
                  <a:srgbClr val="312F2B"/>
                </a:solidFill>
                <a:latin typeface="Times New Roman" panose="02020603050405020304" pitchFamily="18" charset="0"/>
                <a:ea typeface="Gelasio" pitchFamily="34" charset="-122"/>
                <a:cs typeface="Times New Roman" panose="02020603050405020304" pitchFamily="18" charset="0"/>
              </a:rPr>
              <a:t>Performance in Practice: The Numbers</a:t>
            </a:r>
            <a:endParaRPr lang="en-US" sz="27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C6F88101-B382-9DA9-0A71-B7AC1DFB5BF0}"/>
              </a:ext>
            </a:extLst>
          </p:cNvPr>
          <p:cNvSpPr/>
          <p:nvPr/>
        </p:nvSpPr>
        <p:spPr>
          <a:xfrm>
            <a:off x="793790" y="1592342"/>
            <a:ext cx="13042821" cy="188952"/>
          </a:xfrm>
          <a:prstGeom prst="rect">
            <a:avLst/>
          </a:prstGeom>
          <a:noFill/>
          <a:ln/>
        </p:spPr>
        <p:txBody>
          <a:bodyPr wrap="non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To understand just how much of a difference RecyclerView makes, consider this comparison of memory usage and frame rendering between ListView and RecyclerView when displaying a list of 1,000 items.</a:t>
            </a:r>
            <a:endParaRPr lang="en-US" sz="1050" dirty="0">
              <a:latin typeface="Times New Roman" panose="02020603050405020304" pitchFamily="18" charset="0"/>
              <a:cs typeface="Times New Roman" panose="02020603050405020304" pitchFamily="18" charset="0"/>
            </a:endParaRPr>
          </a:p>
        </p:txBody>
      </p:sp>
      <p:sp>
        <p:nvSpPr>
          <p:cNvPr id="6" name="Shape 4">
            <a:extLst>
              <a:ext uri="{FF2B5EF4-FFF2-40B4-BE49-F238E27FC236}">
                <a16:creationId xmlns:a16="http://schemas.microsoft.com/office/drawing/2014/main" id="{951CCB18-C660-3C0C-6362-795D69492EF1}"/>
              </a:ext>
            </a:extLst>
          </p:cNvPr>
          <p:cNvSpPr/>
          <p:nvPr/>
        </p:nvSpPr>
        <p:spPr>
          <a:xfrm>
            <a:off x="793790" y="1890593"/>
            <a:ext cx="1137166" cy="164544"/>
          </a:xfrm>
          <a:prstGeom prst="roundRect">
            <a:avLst>
              <a:gd name="adj" fmla="val 77800"/>
            </a:avLst>
          </a:prstGeom>
          <a:solidFill>
            <a:srgbClr val="FFFFFF">
              <a:alpha val="20000"/>
            </a:srgbClr>
          </a:solidFill>
          <a:ln w="7620">
            <a:solidFill>
              <a:srgbClr val="000000"/>
            </a:solidFill>
            <a:prstDash val="solid"/>
          </a:ln>
        </p:spPr>
      </p:sp>
      <p:pic>
        <p:nvPicPr>
          <p:cNvPr id="7" name="Image 0" descr="preencoded.png">
            <a:extLst>
              <a:ext uri="{FF2B5EF4-FFF2-40B4-BE49-F238E27FC236}">
                <a16:creationId xmlns:a16="http://schemas.microsoft.com/office/drawing/2014/main" id="{3D4ED077-6935-FDE5-D2C4-3E8D68C504FC}"/>
              </a:ext>
            </a:extLst>
          </p:cNvPr>
          <p:cNvPicPr>
            <a:picLocks noChangeAspect="1"/>
          </p:cNvPicPr>
          <p:nvPr/>
        </p:nvPicPr>
        <p:blipFill>
          <a:blip r:embed="rId2"/>
          <a:stretch>
            <a:fillRect/>
          </a:stretch>
        </p:blipFill>
        <p:spPr>
          <a:xfrm>
            <a:off x="847130" y="1927146"/>
            <a:ext cx="91440" cy="91440"/>
          </a:xfrm>
          <a:prstGeom prst="rect">
            <a:avLst/>
          </a:prstGeom>
        </p:spPr>
      </p:pic>
      <p:sp>
        <p:nvSpPr>
          <p:cNvPr id="8" name="Text 5">
            <a:extLst>
              <a:ext uri="{FF2B5EF4-FFF2-40B4-BE49-F238E27FC236}">
                <a16:creationId xmlns:a16="http://schemas.microsoft.com/office/drawing/2014/main" id="{519B2D25-05AF-240F-DACF-8915B730AEB2}"/>
              </a:ext>
            </a:extLst>
          </p:cNvPr>
          <p:cNvSpPr/>
          <p:nvPr/>
        </p:nvSpPr>
        <p:spPr>
          <a:xfrm>
            <a:off x="969050" y="1913453"/>
            <a:ext cx="908566" cy="118824"/>
          </a:xfrm>
          <a:prstGeom prst="rect">
            <a:avLst/>
          </a:prstGeom>
          <a:noFill/>
          <a:ln/>
        </p:spPr>
        <p:txBody>
          <a:bodyPr wrap="none" lIns="0" tIns="0" rIns="0" bIns="0" rtlCol="0" anchor="t"/>
          <a:lstStyle/>
          <a:p>
            <a:pPr marL="0" indent="0" algn="l">
              <a:lnSpc>
                <a:spcPts val="900"/>
              </a:lnSpc>
              <a:buNone/>
            </a:pPr>
            <a:r>
              <a:rPr lang="en-US" sz="700" dirty="0">
                <a:solidFill>
                  <a:srgbClr val="272525"/>
                </a:solidFill>
                <a:latin typeface="Times New Roman" panose="02020603050405020304" pitchFamily="18" charset="0"/>
                <a:ea typeface="-apple-system, BlinkMacSystemFont, Segoe UI, Roboto, Helvetica Neue, Arial, sans-serif Medium" pitchFamily="34" charset="-122"/>
                <a:cs typeface="Times New Roman" panose="02020603050405020304" pitchFamily="18" charset="0"/>
              </a:rPr>
              <a:t>View Objects Created</a:t>
            </a:r>
            <a:endParaRPr lang="en-US" sz="700" dirty="0">
              <a:latin typeface="Times New Roman" panose="02020603050405020304" pitchFamily="18" charset="0"/>
              <a:cs typeface="Times New Roman" panose="02020603050405020304" pitchFamily="18" charset="0"/>
            </a:endParaRPr>
          </a:p>
        </p:txBody>
      </p:sp>
      <p:sp>
        <p:nvSpPr>
          <p:cNvPr id="9" name="Shape 6">
            <a:extLst>
              <a:ext uri="{FF2B5EF4-FFF2-40B4-BE49-F238E27FC236}">
                <a16:creationId xmlns:a16="http://schemas.microsoft.com/office/drawing/2014/main" id="{68080B50-FD62-D195-380B-22580F299252}"/>
              </a:ext>
            </a:extLst>
          </p:cNvPr>
          <p:cNvSpPr/>
          <p:nvPr/>
        </p:nvSpPr>
        <p:spPr>
          <a:xfrm>
            <a:off x="1991916" y="1890593"/>
            <a:ext cx="1235035" cy="164544"/>
          </a:xfrm>
          <a:prstGeom prst="roundRect">
            <a:avLst>
              <a:gd name="adj" fmla="val 77800"/>
            </a:avLst>
          </a:prstGeom>
          <a:solidFill>
            <a:srgbClr val="FFFFFF">
              <a:alpha val="20000"/>
            </a:srgbClr>
          </a:solidFill>
          <a:ln w="7620">
            <a:solidFill>
              <a:srgbClr val="000000"/>
            </a:solidFill>
            <a:prstDash val="solid"/>
          </a:ln>
        </p:spPr>
      </p:sp>
      <p:pic>
        <p:nvPicPr>
          <p:cNvPr id="10" name="Image 1" descr="preencoded.png">
            <a:extLst>
              <a:ext uri="{FF2B5EF4-FFF2-40B4-BE49-F238E27FC236}">
                <a16:creationId xmlns:a16="http://schemas.microsoft.com/office/drawing/2014/main" id="{2B602440-8AC8-0689-CA36-7D684F768ED6}"/>
              </a:ext>
            </a:extLst>
          </p:cNvPr>
          <p:cNvPicPr>
            <a:picLocks noChangeAspect="1"/>
          </p:cNvPicPr>
          <p:nvPr/>
        </p:nvPicPr>
        <p:blipFill>
          <a:blip r:embed="rId3"/>
          <a:stretch>
            <a:fillRect/>
          </a:stretch>
        </p:blipFill>
        <p:spPr>
          <a:xfrm>
            <a:off x="2045256" y="1927146"/>
            <a:ext cx="91440" cy="91440"/>
          </a:xfrm>
          <a:prstGeom prst="rect">
            <a:avLst/>
          </a:prstGeom>
        </p:spPr>
      </p:pic>
      <p:sp>
        <p:nvSpPr>
          <p:cNvPr id="11" name="Text 7">
            <a:extLst>
              <a:ext uri="{FF2B5EF4-FFF2-40B4-BE49-F238E27FC236}">
                <a16:creationId xmlns:a16="http://schemas.microsoft.com/office/drawing/2014/main" id="{36BF41E9-F029-C27B-3696-C3C9A0026BBC}"/>
              </a:ext>
            </a:extLst>
          </p:cNvPr>
          <p:cNvSpPr/>
          <p:nvPr/>
        </p:nvSpPr>
        <p:spPr>
          <a:xfrm>
            <a:off x="2167176" y="1913453"/>
            <a:ext cx="1006435" cy="118824"/>
          </a:xfrm>
          <a:prstGeom prst="rect">
            <a:avLst/>
          </a:prstGeom>
          <a:noFill/>
          <a:ln/>
        </p:spPr>
        <p:txBody>
          <a:bodyPr wrap="none" lIns="0" tIns="0" rIns="0" bIns="0" rtlCol="0" anchor="t"/>
          <a:lstStyle/>
          <a:p>
            <a:pPr marL="0" indent="0" algn="l">
              <a:lnSpc>
                <a:spcPts val="900"/>
              </a:lnSpc>
              <a:buNone/>
            </a:pPr>
            <a:r>
              <a:rPr lang="en-US" sz="700" dirty="0">
                <a:solidFill>
                  <a:srgbClr val="272525"/>
                </a:solidFill>
                <a:latin typeface="Times New Roman" panose="02020603050405020304" pitchFamily="18" charset="0"/>
                <a:ea typeface="-apple-system, BlinkMacSystemFont, Segoe UI, Roboto, Helvetica Neue, Arial, sans-serif Medium" pitchFamily="34" charset="-122"/>
                <a:cs typeface="Times New Roman" panose="02020603050405020304" pitchFamily="18" charset="0"/>
              </a:rPr>
              <a:t>Avg Frames Per Second</a:t>
            </a:r>
            <a:endParaRPr lang="en-US" sz="700" dirty="0">
              <a:latin typeface="Times New Roman" panose="02020603050405020304" pitchFamily="18" charset="0"/>
              <a:cs typeface="Times New Roman" panose="02020603050405020304" pitchFamily="18" charset="0"/>
            </a:endParaRPr>
          </a:p>
        </p:txBody>
      </p:sp>
      <p:pic>
        <p:nvPicPr>
          <p:cNvPr id="12" name="Image 2" descr="preencoded.png">
            <a:extLst>
              <a:ext uri="{FF2B5EF4-FFF2-40B4-BE49-F238E27FC236}">
                <a16:creationId xmlns:a16="http://schemas.microsoft.com/office/drawing/2014/main" id="{384811F3-D690-13EF-66A5-2A4A19656B89}"/>
              </a:ext>
            </a:extLst>
          </p:cNvPr>
          <p:cNvPicPr>
            <a:picLocks noChangeAspect="1"/>
          </p:cNvPicPr>
          <p:nvPr/>
        </p:nvPicPr>
        <p:blipFill>
          <a:blip r:embed="rId4"/>
          <a:stretch>
            <a:fillRect/>
          </a:stretch>
        </p:blipFill>
        <p:spPr>
          <a:xfrm>
            <a:off x="793790" y="2131338"/>
            <a:ext cx="9129951" cy="4275296"/>
          </a:xfrm>
          <a:prstGeom prst="rect">
            <a:avLst/>
          </a:prstGeom>
        </p:spPr>
      </p:pic>
      <p:sp>
        <p:nvSpPr>
          <p:cNvPr id="13" name="Text 8">
            <a:extLst>
              <a:ext uri="{FF2B5EF4-FFF2-40B4-BE49-F238E27FC236}">
                <a16:creationId xmlns:a16="http://schemas.microsoft.com/office/drawing/2014/main" id="{C65DE7BD-9415-5AE6-C9AB-116A6C136DCC}"/>
              </a:ext>
            </a:extLst>
          </p:cNvPr>
          <p:cNvSpPr/>
          <p:nvPr/>
        </p:nvSpPr>
        <p:spPr>
          <a:xfrm>
            <a:off x="793790" y="7112556"/>
            <a:ext cx="13042821" cy="37790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RecyclerView creates only </a:t>
            </a:r>
            <a:r>
              <a:rPr lang="en-US" sz="1050" b="1" dirty="0">
                <a:solidFill>
                  <a:srgbClr val="272525"/>
                </a:solidFill>
                <a:latin typeface="Times New Roman" panose="02020603050405020304" pitchFamily="18" charset="0"/>
                <a:ea typeface="Lato" pitchFamily="34" charset="-122"/>
                <a:cs typeface="Times New Roman" panose="02020603050405020304" pitchFamily="18" charset="0"/>
              </a:rPr>
              <a:t>~15 view objects</a:t>
            </a: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 (one per visible item plus a small buffer) compared to ListView's </a:t>
            </a:r>
            <a:r>
              <a:rPr lang="en-US" sz="1050" b="1" dirty="0">
                <a:solidFill>
                  <a:srgbClr val="272525"/>
                </a:solidFill>
                <a:latin typeface="Times New Roman" panose="02020603050405020304" pitchFamily="18" charset="0"/>
                <a:ea typeface="Lato" pitchFamily="34" charset="-122"/>
                <a:cs typeface="Times New Roman" panose="02020603050405020304" pitchFamily="18" charset="0"/>
              </a:rPr>
              <a:t>1,000</a:t>
            </a: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 This results in consistently smooth </a:t>
            </a:r>
            <a:r>
              <a:rPr lang="en-US" sz="1050" b="1" dirty="0">
                <a:solidFill>
                  <a:srgbClr val="272525"/>
                </a:solidFill>
                <a:latin typeface="Times New Roman" panose="02020603050405020304" pitchFamily="18" charset="0"/>
                <a:ea typeface="Lato" pitchFamily="34" charset="-122"/>
                <a:cs typeface="Times New Roman" panose="02020603050405020304" pitchFamily="18" charset="0"/>
              </a:rPr>
              <a:t>60 FPS</a:t>
            </a: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 scrolling, whereas ListView often drops below 45 FPS on mid-range devices. The recycling mechanism is what makes this possible.</a:t>
            </a:r>
            <a:endParaRPr lang="en-US" sz="105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FEF973A4-52BD-5589-81ED-8F81E4207F4D}"/>
              </a:ext>
            </a:extLst>
          </p:cNvPr>
          <p:cNvPicPr>
            <a:picLocks noChangeAspect="1"/>
          </p:cNvPicPr>
          <p:nvPr/>
        </p:nvPicPr>
        <p:blipFill>
          <a:blip r:embed="rId5">
            <a:alphaModFix amt="50000"/>
          </a:blip>
          <a:stretch>
            <a:fillRect/>
          </a:stretch>
        </p:blipFill>
        <p:spPr>
          <a:xfrm>
            <a:off x="11547318" y="-37539"/>
            <a:ext cx="3083082" cy="1561171"/>
          </a:xfrm>
          <a:prstGeom prst="rect">
            <a:avLst/>
          </a:prstGeom>
        </p:spPr>
      </p:pic>
    </p:spTree>
    <p:extLst>
      <p:ext uri="{BB962C8B-B14F-4D97-AF65-F5344CB8AC3E}">
        <p14:creationId xmlns:p14="http://schemas.microsoft.com/office/powerpoint/2010/main" val="336717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8BB4E6F-C8D3-5FC2-FDA4-4AB0EB09965C}"/>
              </a:ext>
            </a:extLst>
          </p:cNvPr>
          <p:cNvSpPr/>
          <p:nvPr/>
        </p:nvSpPr>
        <p:spPr>
          <a:xfrm>
            <a:off x="793790" y="795218"/>
            <a:ext cx="620554" cy="255984"/>
          </a:xfrm>
          <a:prstGeom prst="roundRect">
            <a:avLst>
              <a:gd name="adj" fmla="val 19539"/>
            </a:avLst>
          </a:prstGeom>
          <a:solidFill>
            <a:srgbClr val="E8E8E3"/>
          </a:solidFill>
          <a:ln/>
        </p:spPr>
      </p:sp>
      <p:sp>
        <p:nvSpPr>
          <p:cNvPr id="3" name="Text 1">
            <a:extLst>
              <a:ext uri="{FF2B5EF4-FFF2-40B4-BE49-F238E27FC236}">
                <a16:creationId xmlns:a16="http://schemas.microsoft.com/office/drawing/2014/main" id="{20C801AF-9E6E-45E4-1415-9549E9D7C7A0}"/>
              </a:ext>
            </a:extLst>
          </p:cNvPr>
          <p:cNvSpPr/>
          <p:nvPr/>
        </p:nvSpPr>
        <p:spPr>
          <a:xfrm>
            <a:off x="883087" y="839867"/>
            <a:ext cx="441960" cy="166688"/>
          </a:xfrm>
          <a:prstGeom prst="rect">
            <a:avLst/>
          </a:prstGeom>
          <a:noFill/>
          <a:ln/>
        </p:spPr>
        <p:txBody>
          <a:bodyPr wrap="none" lIns="0" tIns="0" rIns="0" bIns="0" rtlCol="0" anchor="t"/>
          <a:lstStyle/>
          <a:p>
            <a:pPr marL="0" indent="0" algn="l">
              <a:lnSpc>
                <a:spcPts val="1300"/>
              </a:lnSpc>
              <a:buNone/>
            </a:pPr>
            <a:r>
              <a:rPr lang="en-US" sz="900" dirty="0">
                <a:solidFill>
                  <a:srgbClr val="272525"/>
                </a:solidFill>
                <a:latin typeface="Times New Roman" panose="02020603050405020304" pitchFamily="18" charset="0"/>
                <a:ea typeface="Lato" pitchFamily="34" charset="-122"/>
                <a:cs typeface="Times New Roman" panose="02020603050405020304" pitchFamily="18" charset="0"/>
              </a:rPr>
              <a:t>TOPIC 4</a:t>
            </a:r>
            <a:endParaRPr lang="en-US" sz="9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8193C56F-D9BD-BB7D-B8DB-25923BEF3D2F}"/>
              </a:ext>
            </a:extLst>
          </p:cNvPr>
          <p:cNvSpPr/>
          <p:nvPr/>
        </p:nvSpPr>
        <p:spPr>
          <a:xfrm>
            <a:off x="793790" y="1095851"/>
            <a:ext cx="6925270" cy="465177"/>
          </a:xfrm>
          <a:prstGeom prst="rect">
            <a:avLst/>
          </a:prstGeom>
          <a:noFill/>
          <a:ln/>
        </p:spPr>
        <p:txBody>
          <a:bodyPr wrap="none" lIns="0" tIns="0" rIns="0" bIns="0" rtlCol="0" anchor="t"/>
          <a:lstStyle/>
          <a:p>
            <a:pPr marL="0" indent="0" algn="l">
              <a:lnSpc>
                <a:spcPts val="3650"/>
              </a:lnSpc>
              <a:buNone/>
            </a:pPr>
            <a:r>
              <a:rPr lang="en-US" sz="2900" dirty="0">
                <a:solidFill>
                  <a:srgbClr val="312F2B"/>
                </a:solidFill>
                <a:latin typeface="Times New Roman" panose="02020603050405020304" pitchFamily="18" charset="0"/>
                <a:ea typeface="Gelasio" pitchFamily="34" charset="-122"/>
                <a:cs typeface="Times New Roman" panose="02020603050405020304" pitchFamily="18" charset="0"/>
              </a:rPr>
              <a:t>Basic Working: Setting Up a RecyclerView</a:t>
            </a:r>
            <a:endParaRPr lang="en-US" sz="29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00A4EC1F-5B11-FC46-89C4-43088A285D99}"/>
              </a:ext>
            </a:extLst>
          </p:cNvPr>
          <p:cNvSpPr/>
          <p:nvPr/>
        </p:nvSpPr>
        <p:spPr>
          <a:xfrm>
            <a:off x="793790" y="1728430"/>
            <a:ext cx="1304282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Times New Roman" panose="02020603050405020304" pitchFamily="18" charset="0"/>
                <a:ea typeface="Lato" pitchFamily="34" charset="-122"/>
                <a:cs typeface="Times New Roman" panose="02020603050405020304" pitchFamily="18" charset="0"/>
              </a:rPr>
              <a:t>Here's a minimal, working example of how to set up a RecyclerView in an Activity. This covers the essential steps — adding the dependency, defining the layout, and wiring up the adapter.</a:t>
            </a:r>
            <a:endParaRPr lang="en-US" sz="1150" dirty="0">
              <a:latin typeface="Times New Roman" panose="02020603050405020304" pitchFamily="18" charset="0"/>
              <a:cs typeface="Times New Roman" panose="02020603050405020304" pitchFamily="18" charset="0"/>
            </a:endParaRPr>
          </a:p>
        </p:txBody>
      </p:sp>
      <p:sp>
        <p:nvSpPr>
          <p:cNvPr id="6" name="Text 7">
            <a:extLst>
              <a:ext uri="{FF2B5EF4-FFF2-40B4-BE49-F238E27FC236}">
                <a16:creationId xmlns:a16="http://schemas.microsoft.com/office/drawing/2014/main" id="{9DE2BBC0-2A78-B0BA-6F83-E47ED372B3D5}"/>
              </a:ext>
            </a:extLst>
          </p:cNvPr>
          <p:cNvSpPr/>
          <p:nvPr/>
        </p:nvSpPr>
        <p:spPr>
          <a:xfrm>
            <a:off x="7719059" y="2159884"/>
            <a:ext cx="2446853" cy="232529"/>
          </a:xfrm>
          <a:prstGeom prst="rect">
            <a:avLst/>
          </a:prstGeom>
          <a:noFill/>
          <a:ln/>
        </p:spPr>
        <p:txBody>
          <a:bodyPr wrap="none" lIns="0" tIns="0" rIns="0" bIns="0" rtlCol="0" anchor="t"/>
          <a:lstStyle/>
          <a:p>
            <a:pPr marL="0" indent="0" algn="l">
              <a:lnSpc>
                <a:spcPts val="1800"/>
              </a:lnSpc>
              <a:buNone/>
            </a:pPr>
            <a:r>
              <a:rPr lang="en-US" sz="1450" dirty="0">
                <a:solidFill>
                  <a:srgbClr val="312F2B"/>
                </a:solidFill>
                <a:latin typeface="Times New Roman" panose="02020603050405020304" pitchFamily="18" charset="0"/>
                <a:ea typeface="Gelasio" pitchFamily="34" charset="-122"/>
                <a:cs typeface="Times New Roman" panose="02020603050405020304" pitchFamily="18" charset="0"/>
              </a:rPr>
              <a:t>Step 1 — Add the Dependency</a:t>
            </a:r>
            <a:endParaRPr lang="en-US" sz="1450" dirty="0">
              <a:latin typeface="Times New Roman" panose="02020603050405020304" pitchFamily="18" charset="0"/>
              <a:cs typeface="Times New Roman" panose="02020603050405020304" pitchFamily="18" charset="0"/>
            </a:endParaRPr>
          </a:p>
        </p:txBody>
      </p:sp>
      <p:sp>
        <p:nvSpPr>
          <p:cNvPr id="7" name="Shape 9">
            <a:extLst>
              <a:ext uri="{FF2B5EF4-FFF2-40B4-BE49-F238E27FC236}">
                <a16:creationId xmlns:a16="http://schemas.microsoft.com/office/drawing/2014/main" id="{4AF5F94F-6F5E-1A84-AFB7-E854245F2B95}"/>
              </a:ext>
            </a:extLst>
          </p:cNvPr>
          <p:cNvSpPr/>
          <p:nvPr/>
        </p:nvSpPr>
        <p:spPr>
          <a:xfrm>
            <a:off x="7719059" y="2531864"/>
            <a:ext cx="6132433" cy="1339453"/>
          </a:xfrm>
          <a:prstGeom prst="roundRect">
            <a:avLst>
              <a:gd name="adj" fmla="val 1667"/>
            </a:avLst>
          </a:prstGeom>
          <a:solidFill>
            <a:srgbClr val="F2F2F2"/>
          </a:solidFill>
          <a:ln/>
        </p:spPr>
      </p:sp>
      <p:sp>
        <p:nvSpPr>
          <p:cNvPr id="8" name="Text 10">
            <a:extLst>
              <a:ext uri="{FF2B5EF4-FFF2-40B4-BE49-F238E27FC236}">
                <a16:creationId xmlns:a16="http://schemas.microsoft.com/office/drawing/2014/main" id="{64176806-F11B-725F-8CAB-18688085680E}"/>
              </a:ext>
            </a:extLst>
          </p:cNvPr>
          <p:cNvSpPr/>
          <p:nvPr/>
        </p:nvSpPr>
        <p:spPr>
          <a:xfrm>
            <a:off x="7939647" y="2699207"/>
            <a:ext cx="7323177" cy="1041797"/>
          </a:xfrm>
          <a:prstGeom prst="rect">
            <a:avLst/>
          </a:prstGeom>
          <a:noFill/>
          <a:ln/>
        </p:spPr>
        <p:txBody>
          <a:bodyPr wrap="square" lIns="0" tIns="0" rIns="0" bIns="0" rtlCol="0" anchor="t"/>
          <a:lstStyle/>
          <a:p>
            <a:pPr marL="0" indent="0" algn="l">
              <a:lnSpc>
                <a:spcPts val="1600"/>
              </a:lnSpc>
              <a:buNone/>
            </a:pPr>
            <a:r>
              <a:rPr lang="en-US" sz="1150" dirty="0">
                <a:solidFill>
                  <a:srgbClr val="6A737D"/>
                </a:solidFill>
                <a:highlight>
                  <a:srgbClr val="F2F2F2"/>
                </a:highlight>
                <a:latin typeface="Times New Roman" panose="02020603050405020304" pitchFamily="18" charset="0"/>
                <a:ea typeface="Consolas" pitchFamily="34" charset="-122"/>
                <a:cs typeface="Times New Roman" panose="02020603050405020304" pitchFamily="18" charset="0"/>
              </a:rPr>
              <a:t>// build.gradle (app module)</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6A737D"/>
                </a:solidFill>
                <a:highlight>
                  <a:srgbClr val="F2F2F2"/>
                </a:highlight>
                <a:latin typeface="Times New Roman" panose="02020603050405020304" pitchFamily="18" charset="0"/>
                <a:ea typeface="Consolas" pitchFamily="34" charset="-122"/>
                <a:cs typeface="Times New Roman" panose="02020603050405020304" pitchFamily="18" charset="0"/>
              </a:rPr>
              <a:t>dependencies {</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6A737D"/>
                </a:solidFill>
                <a:highlight>
                  <a:srgbClr val="F2F2F2"/>
                </a:highlight>
                <a:latin typeface="Times New Roman" panose="02020603050405020304" pitchFamily="18" charset="0"/>
                <a:ea typeface="Consolas" pitchFamily="34" charset="-122"/>
                <a:cs typeface="Times New Roman" panose="02020603050405020304" pitchFamily="18" charset="0"/>
              </a:rPr>
              <a:t>    implementation "androidx.recyclerview:recyclerview:1.3.2"</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6A737D"/>
                </a:solidFill>
                <a:highlight>
                  <a:srgbClr val="F2F2F2"/>
                </a:highlight>
                <a:latin typeface="Times New Roman" panose="02020603050405020304" pitchFamily="18" charset="0"/>
                <a:ea typeface="Consolas" pitchFamily="34" charset="-122"/>
                <a:cs typeface="Times New Roman" panose="02020603050405020304" pitchFamily="18" charset="0"/>
              </a:rPr>
              <a:t>}</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6A737D"/>
                </a:solidFill>
                <a:highlight>
                  <a:srgbClr val="F2F2F2"/>
                </a:highlight>
                <a:latin typeface="Times New Roman" panose="02020603050405020304" pitchFamily="18" charset="0"/>
                <a:ea typeface="Consolas" pitchFamily="34" charset="-122"/>
                <a:cs typeface="Times New Roman" panose="02020603050405020304" pitchFamily="18" charset="0"/>
              </a:rPr>
              <a:t>    </a:t>
            </a:r>
            <a:endParaRPr lang="en-US" sz="1150" dirty="0">
              <a:latin typeface="Times New Roman" panose="02020603050405020304" pitchFamily="18" charset="0"/>
              <a:cs typeface="Times New Roman" panose="02020603050405020304" pitchFamily="18" charset="0"/>
            </a:endParaRPr>
          </a:p>
        </p:txBody>
      </p:sp>
      <p:sp>
        <p:nvSpPr>
          <p:cNvPr id="9" name="Text 11">
            <a:extLst>
              <a:ext uri="{FF2B5EF4-FFF2-40B4-BE49-F238E27FC236}">
                <a16:creationId xmlns:a16="http://schemas.microsoft.com/office/drawing/2014/main" id="{72229CB9-B2D6-1F71-41AC-C71311FAF2A5}"/>
              </a:ext>
            </a:extLst>
          </p:cNvPr>
          <p:cNvSpPr/>
          <p:nvPr/>
        </p:nvSpPr>
        <p:spPr>
          <a:xfrm>
            <a:off x="7759123" y="4035527"/>
            <a:ext cx="2366724" cy="232529"/>
          </a:xfrm>
          <a:prstGeom prst="rect">
            <a:avLst/>
          </a:prstGeom>
          <a:noFill/>
          <a:ln/>
        </p:spPr>
        <p:txBody>
          <a:bodyPr wrap="none" lIns="0" tIns="0" rIns="0" bIns="0" rtlCol="0" anchor="t"/>
          <a:lstStyle/>
          <a:p>
            <a:pPr marL="0" indent="0" algn="l">
              <a:lnSpc>
                <a:spcPts val="1800"/>
              </a:lnSpc>
              <a:buNone/>
            </a:pPr>
            <a:r>
              <a:rPr lang="en-US" sz="1450" dirty="0">
                <a:solidFill>
                  <a:srgbClr val="312F2B"/>
                </a:solidFill>
                <a:latin typeface="Times New Roman" panose="02020603050405020304" pitchFamily="18" charset="0"/>
                <a:ea typeface="Gelasio" pitchFamily="34" charset="-122"/>
                <a:cs typeface="Times New Roman" panose="02020603050405020304" pitchFamily="18" charset="0"/>
              </a:rPr>
              <a:t>Step 2 — Add to Your Layout</a:t>
            </a:r>
            <a:endParaRPr lang="en-US" sz="1450" dirty="0">
              <a:latin typeface="Times New Roman" panose="02020603050405020304" pitchFamily="18" charset="0"/>
              <a:cs typeface="Times New Roman" panose="02020603050405020304" pitchFamily="18" charset="0"/>
            </a:endParaRPr>
          </a:p>
        </p:txBody>
      </p:sp>
      <p:sp>
        <p:nvSpPr>
          <p:cNvPr id="10" name="Shape 13">
            <a:extLst>
              <a:ext uri="{FF2B5EF4-FFF2-40B4-BE49-F238E27FC236}">
                <a16:creationId xmlns:a16="http://schemas.microsoft.com/office/drawing/2014/main" id="{288ECDB2-28BA-423C-86C7-07E18EE69A66}"/>
              </a:ext>
            </a:extLst>
          </p:cNvPr>
          <p:cNvSpPr/>
          <p:nvPr/>
        </p:nvSpPr>
        <p:spPr>
          <a:xfrm>
            <a:off x="7753671" y="4302011"/>
            <a:ext cx="6216972" cy="1339453"/>
          </a:xfrm>
          <a:prstGeom prst="roundRect">
            <a:avLst>
              <a:gd name="adj" fmla="val 1667"/>
            </a:avLst>
          </a:prstGeom>
          <a:solidFill>
            <a:srgbClr val="F2F2F2"/>
          </a:solidFill>
          <a:ln/>
        </p:spPr>
      </p:sp>
      <p:sp>
        <p:nvSpPr>
          <p:cNvPr id="11" name="Text 14">
            <a:extLst>
              <a:ext uri="{FF2B5EF4-FFF2-40B4-BE49-F238E27FC236}">
                <a16:creationId xmlns:a16="http://schemas.microsoft.com/office/drawing/2014/main" id="{DDF784BB-31D9-0B32-B9A4-A4E4EB0A45FA}"/>
              </a:ext>
            </a:extLst>
          </p:cNvPr>
          <p:cNvSpPr/>
          <p:nvPr/>
        </p:nvSpPr>
        <p:spPr>
          <a:xfrm>
            <a:off x="7939646" y="4419957"/>
            <a:ext cx="7323177" cy="1041797"/>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&lt;androidx.recyclerview.widget.RecyclerView</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    android:id="@+id/recyclerView"</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    android:layout_width="match_parent"</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    android:layout_height="match_parent" /&gt;</a:t>
            </a:r>
            <a:endParaRPr lang="en-US" sz="1150" dirty="0">
              <a:latin typeface="Times New Roman" panose="02020603050405020304" pitchFamily="18" charset="0"/>
              <a:cs typeface="Times New Roman" panose="02020603050405020304" pitchFamily="18" charset="0"/>
            </a:endParaRPr>
          </a:p>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    </a:t>
            </a:r>
            <a:endParaRPr lang="en-US" sz="1150" dirty="0">
              <a:latin typeface="Times New Roman" panose="02020603050405020304" pitchFamily="18" charset="0"/>
              <a:cs typeface="Times New Roman" panose="02020603050405020304" pitchFamily="18" charset="0"/>
            </a:endParaRPr>
          </a:p>
        </p:txBody>
      </p:sp>
      <p:sp>
        <p:nvSpPr>
          <p:cNvPr id="12" name="Text 15">
            <a:extLst>
              <a:ext uri="{FF2B5EF4-FFF2-40B4-BE49-F238E27FC236}">
                <a16:creationId xmlns:a16="http://schemas.microsoft.com/office/drawing/2014/main" id="{07325882-175C-B28B-5CC2-23253F932442}"/>
              </a:ext>
            </a:extLst>
          </p:cNvPr>
          <p:cNvSpPr/>
          <p:nvPr/>
        </p:nvSpPr>
        <p:spPr>
          <a:xfrm>
            <a:off x="7711569" y="5809565"/>
            <a:ext cx="2196108" cy="232529"/>
          </a:xfrm>
          <a:prstGeom prst="rect">
            <a:avLst/>
          </a:prstGeom>
          <a:noFill/>
          <a:ln/>
        </p:spPr>
        <p:txBody>
          <a:bodyPr wrap="none" lIns="0" tIns="0" rIns="0" bIns="0" rtlCol="0" anchor="t"/>
          <a:lstStyle/>
          <a:p>
            <a:pPr marL="0" indent="0" algn="l">
              <a:lnSpc>
                <a:spcPts val="1800"/>
              </a:lnSpc>
              <a:buNone/>
            </a:pPr>
            <a:r>
              <a:rPr lang="en-US" sz="1450" dirty="0">
                <a:solidFill>
                  <a:srgbClr val="312F2B"/>
                </a:solidFill>
                <a:latin typeface="Times New Roman" panose="02020603050405020304" pitchFamily="18" charset="0"/>
                <a:ea typeface="Gelasio" pitchFamily="34" charset="-122"/>
                <a:cs typeface="Times New Roman" panose="02020603050405020304" pitchFamily="18" charset="0"/>
              </a:rPr>
              <a:t>Step 3 — Set Up in Activity</a:t>
            </a:r>
            <a:endParaRPr lang="en-US" sz="1450" dirty="0">
              <a:latin typeface="Times New Roman" panose="02020603050405020304" pitchFamily="18" charset="0"/>
              <a:cs typeface="Times New Roman" panose="02020603050405020304" pitchFamily="18" charset="0"/>
            </a:endParaRPr>
          </a:p>
        </p:txBody>
      </p:sp>
      <p:sp>
        <p:nvSpPr>
          <p:cNvPr id="13" name="Shape 17">
            <a:extLst>
              <a:ext uri="{FF2B5EF4-FFF2-40B4-BE49-F238E27FC236}">
                <a16:creationId xmlns:a16="http://schemas.microsoft.com/office/drawing/2014/main" id="{CFB15A8B-3DFC-97D2-5C3B-2B97BFD5BB8E}"/>
              </a:ext>
            </a:extLst>
          </p:cNvPr>
          <p:cNvSpPr/>
          <p:nvPr/>
        </p:nvSpPr>
        <p:spPr>
          <a:xfrm>
            <a:off x="7759123" y="6177796"/>
            <a:ext cx="6092369" cy="1005177"/>
          </a:xfrm>
          <a:prstGeom prst="roundRect">
            <a:avLst>
              <a:gd name="adj" fmla="val 1974"/>
            </a:avLst>
          </a:prstGeom>
          <a:solidFill>
            <a:srgbClr val="F2F2F2"/>
          </a:solidFill>
          <a:ln/>
        </p:spPr>
      </p:sp>
      <p:sp>
        <p:nvSpPr>
          <p:cNvPr id="14" name="Text 18">
            <a:extLst>
              <a:ext uri="{FF2B5EF4-FFF2-40B4-BE49-F238E27FC236}">
                <a16:creationId xmlns:a16="http://schemas.microsoft.com/office/drawing/2014/main" id="{51240D5F-EB39-C2BF-13D5-3445FE22048D}"/>
              </a:ext>
            </a:extLst>
          </p:cNvPr>
          <p:cNvSpPr/>
          <p:nvPr/>
        </p:nvSpPr>
        <p:spPr>
          <a:xfrm>
            <a:off x="7939647" y="6326624"/>
            <a:ext cx="5725870" cy="833438"/>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Times New Roman" panose="02020603050405020304" pitchFamily="18" charset="0"/>
                <a:ea typeface="Consolas" pitchFamily="34" charset="-122"/>
                <a:cs typeface="Times New Roman" panose="02020603050405020304" pitchFamily="18" charset="0"/>
              </a:rPr>
              <a:t>val recyclerView = findViewById&lt;RecyclerView&gt;(R.id.recyclerView)
recyclerView.layoutManager = LinearLayoutManager(this)
recyclerView.adapter = MyAdapter(myDataList)
</a:t>
            </a:r>
            <a:endParaRPr lang="en-US" sz="115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30D5B9E8-6813-41CE-E3F7-FA5410BFB054}"/>
              </a:ext>
            </a:extLst>
          </p:cNvPr>
          <p:cNvPicPr>
            <a:picLocks noChangeAspect="1"/>
          </p:cNvPicPr>
          <p:nvPr/>
        </p:nvPicPr>
        <p:blipFill>
          <a:blip r:embed="rId2"/>
          <a:stretch>
            <a:fillRect/>
          </a:stretch>
        </p:blipFill>
        <p:spPr>
          <a:xfrm>
            <a:off x="357770" y="2230224"/>
            <a:ext cx="6795384" cy="5351194"/>
          </a:xfrm>
          <a:prstGeom prst="rect">
            <a:avLst/>
          </a:prstGeom>
        </p:spPr>
      </p:pic>
      <p:pic>
        <p:nvPicPr>
          <p:cNvPr id="16" name="Picture 15">
            <a:extLst>
              <a:ext uri="{FF2B5EF4-FFF2-40B4-BE49-F238E27FC236}">
                <a16:creationId xmlns:a16="http://schemas.microsoft.com/office/drawing/2014/main" id="{73BF103A-6AE0-F559-B556-D9DE571BAA79}"/>
              </a:ext>
            </a:extLst>
          </p:cNvPr>
          <p:cNvPicPr>
            <a:picLocks noChangeAspect="1"/>
          </p:cNvPicPr>
          <p:nvPr/>
        </p:nvPicPr>
        <p:blipFill>
          <a:blip r:embed="rId3">
            <a:alphaModFix amt="50000"/>
          </a:blip>
          <a:stretch>
            <a:fillRect/>
          </a:stretch>
        </p:blipFill>
        <p:spPr>
          <a:xfrm>
            <a:off x="11663065" y="0"/>
            <a:ext cx="2967335" cy="1502561"/>
          </a:xfrm>
          <a:prstGeom prst="rect">
            <a:avLst/>
          </a:prstGeom>
        </p:spPr>
      </p:pic>
    </p:spTree>
    <p:extLst>
      <p:ext uri="{BB962C8B-B14F-4D97-AF65-F5344CB8AC3E}">
        <p14:creationId xmlns:p14="http://schemas.microsoft.com/office/powerpoint/2010/main" val="4072981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EABAF29-712C-E710-A1F1-37ED4A9492AB}"/>
              </a:ext>
            </a:extLst>
          </p:cNvPr>
          <p:cNvSpPr/>
          <p:nvPr/>
        </p:nvSpPr>
        <p:spPr>
          <a:xfrm>
            <a:off x="793790" y="679966"/>
            <a:ext cx="1375172" cy="234553"/>
          </a:xfrm>
          <a:prstGeom prst="roundRect">
            <a:avLst>
              <a:gd name="adj" fmla="val 19902"/>
            </a:avLst>
          </a:prstGeom>
          <a:solidFill>
            <a:srgbClr val="E8E8E3"/>
          </a:solidFill>
          <a:ln/>
        </p:spPr>
      </p:sp>
      <p:sp>
        <p:nvSpPr>
          <p:cNvPr id="3" name="Text 1">
            <a:extLst>
              <a:ext uri="{FF2B5EF4-FFF2-40B4-BE49-F238E27FC236}">
                <a16:creationId xmlns:a16="http://schemas.microsoft.com/office/drawing/2014/main" id="{2BFA6BDF-7EF2-B7BD-5BD9-A8FA4C98949B}"/>
              </a:ext>
            </a:extLst>
          </p:cNvPr>
          <p:cNvSpPr/>
          <p:nvPr/>
        </p:nvSpPr>
        <p:spPr>
          <a:xfrm>
            <a:off x="877133" y="721638"/>
            <a:ext cx="1208484" cy="151209"/>
          </a:xfrm>
          <a:prstGeom prst="rect">
            <a:avLst/>
          </a:prstGeom>
          <a:noFill/>
          <a:ln/>
        </p:spPr>
        <p:txBody>
          <a:bodyPr wrap="none" lIns="0" tIns="0" rIns="0" bIns="0" rtlCol="0" anchor="t"/>
          <a:lstStyle/>
          <a:p>
            <a:pPr marL="0" indent="0" algn="l">
              <a:lnSpc>
                <a:spcPts val="1150"/>
              </a:lnSpc>
              <a:buNone/>
            </a:pPr>
            <a:r>
              <a:rPr lang="en-US" sz="850" dirty="0">
                <a:solidFill>
                  <a:srgbClr val="272525"/>
                </a:solidFill>
                <a:latin typeface="Times New Roman" panose="02020603050405020304" pitchFamily="18" charset="0"/>
                <a:ea typeface="Lato" pitchFamily="34" charset="-122"/>
                <a:cs typeface="Times New Roman" panose="02020603050405020304" pitchFamily="18" charset="0"/>
              </a:rPr>
              <a:t>TOPIC 4 — CONTINUED</a:t>
            </a:r>
            <a:endParaRPr lang="en-US" sz="8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4F48C0F3-843D-2D3F-CDD9-5249C612375E}"/>
              </a:ext>
            </a:extLst>
          </p:cNvPr>
          <p:cNvSpPr/>
          <p:nvPr/>
        </p:nvSpPr>
        <p:spPr>
          <a:xfrm>
            <a:off x="793790" y="953333"/>
            <a:ext cx="7534632" cy="434102"/>
          </a:xfrm>
          <a:prstGeom prst="rect">
            <a:avLst/>
          </a:prstGeom>
          <a:noFill/>
          <a:ln/>
        </p:spPr>
        <p:txBody>
          <a:bodyPr wrap="none" lIns="0" tIns="0" rIns="0" bIns="0" rtlCol="0" anchor="t"/>
          <a:lstStyle/>
          <a:p>
            <a:pPr marL="0" indent="0" algn="l">
              <a:lnSpc>
                <a:spcPts val="3400"/>
              </a:lnSpc>
              <a:buNone/>
            </a:pPr>
            <a:r>
              <a:rPr lang="en-US" sz="2700" dirty="0">
                <a:solidFill>
                  <a:srgbClr val="312F2B"/>
                </a:solidFill>
                <a:latin typeface="Times New Roman" panose="02020603050405020304" pitchFamily="18" charset="0"/>
                <a:ea typeface="Gelasio" pitchFamily="34" charset="-122"/>
                <a:cs typeface="Times New Roman" panose="02020603050405020304" pitchFamily="18" charset="0"/>
              </a:rPr>
              <a:t>The Adapter &amp; ViewHolder: Tying It All Together</a:t>
            </a:r>
            <a:endParaRPr lang="en-US" sz="27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6B36B86A-8C7D-B01B-03E3-141DCA9FB9E0}"/>
              </a:ext>
            </a:extLst>
          </p:cNvPr>
          <p:cNvSpPr/>
          <p:nvPr/>
        </p:nvSpPr>
        <p:spPr>
          <a:xfrm>
            <a:off x="793790" y="1533287"/>
            <a:ext cx="13042821" cy="188952"/>
          </a:xfrm>
          <a:prstGeom prst="rect">
            <a:avLst/>
          </a:prstGeom>
          <a:noFill/>
          <a:ln/>
        </p:spPr>
        <p:txBody>
          <a:bodyPr wrap="non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The </a:t>
            </a:r>
            <a:r>
              <a:rPr lang="en-US" sz="1050" b="1" dirty="0">
                <a:solidFill>
                  <a:srgbClr val="272525"/>
                </a:solidFill>
                <a:latin typeface="Times New Roman" panose="02020603050405020304" pitchFamily="18" charset="0"/>
                <a:ea typeface="Lato" pitchFamily="34" charset="-122"/>
                <a:cs typeface="Times New Roman" panose="02020603050405020304" pitchFamily="18" charset="0"/>
              </a:rPr>
              <a:t>Adapter</a:t>
            </a: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 is the bridge between your data and the RecyclerView. The </a:t>
            </a:r>
            <a:r>
              <a:rPr lang="en-US" sz="1050" b="1" dirty="0">
                <a:solidFill>
                  <a:srgbClr val="272525"/>
                </a:solidFill>
                <a:latin typeface="Times New Roman" panose="02020603050405020304" pitchFamily="18" charset="0"/>
                <a:ea typeface="Lato" pitchFamily="34" charset="-122"/>
                <a:cs typeface="Times New Roman" panose="02020603050405020304" pitchFamily="18" charset="0"/>
              </a:rPr>
              <a:t>ViewHolder</a:t>
            </a: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 holds each item's views. Together, they power the recycling mechanism.</a:t>
            </a:r>
            <a:endParaRPr lang="en-US" sz="1050" dirty="0">
              <a:latin typeface="Times New Roman" panose="02020603050405020304" pitchFamily="18" charset="0"/>
              <a:cs typeface="Times New Roman" panose="02020603050405020304" pitchFamily="18" charset="0"/>
            </a:endParaRPr>
          </a:p>
        </p:txBody>
      </p:sp>
      <p:sp>
        <p:nvSpPr>
          <p:cNvPr id="6" name="Shape 4">
            <a:extLst>
              <a:ext uri="{FF2B5EF4-FFF2-40B4-BE49-F238E27FC236}">
                <a16:creationId xmlns:a16="http://schemas.microsoft.com/office/drawing/2014/main" id="{913C55E5-B1FA-7A20-D368-10D2D0E594E9}"/>
              </a:ext>
            </a:extLst>
          </p:cNvPr>
          <p:cNvSpPr/>
          <p:nvPr/>
        </p:nvSpPr>
        <p:spPr>
          <a:xfrm>
            <a:off x="793790" y="1831538"/>
            <a:ext cx="13042821" cy="4245650"/>
          </a:xfrm>
          <a:prstGeom prst="roundRect">
            <a:avLst>
              <a:gd name="adj" fmla="val 1374"/>
            </a:avLst>
          </a:prstGeom>
          <a:solidFill>
            <a:srgbClr val="F2F2F2"/>
          </a:solidFill>
          <a:ln/>
        </p:spPr>
      </p:sp>
      <p:sp>
        <p:nvSpPr>
          <p:cNvPr id="7" name="Shape 5">
            <a:extLst>
              <a:ext uri="{FF2B5EF4-FFF2-40B4-BE49-F238E27FC236}">
                <a16:creationId xmlns:a16="http://schemas.microsoft.com/office/drawing/2014/main" id="{13E336E4-92AF-6999-7435-E5A3D0A067FD}"/>
              </a:ext>
            </a:extLst>
          </p:cNvPr>
          <p:cNvSpPr/>
          <p:nvPr/>
        </p:nvSpPr>
        <p:spPr>
          <a:xfrm>
            <a:off x="786884" y="1831538"/>
            <a:ext cx="13056632" cy="4245650"/>
          </a:xfrm>
          <a:prstGeom prst="roundRect">
            <a:avLst>
              <a:gd name="adj" fmla="val 491"/>
            </a:avLst>
          </a:prstGeom>
          <a:solidFill>
            <a:srgbClr val="F2F2F2"/>
          </a:solidFill>
          <a:ln/>
        </p:spPr>
      </p:sp>
      <p:sp>
        <p:nvSpPr>
          <p:cNvPr id="8" name="Text 6">
            <a:extLst>
              <a:ext uri="{FF2B5EF4-FFF2-40B4-BE49-F238E27FC236}">
                <a16:creationId xmlns:a16="http://schemas.microsoft.com/office/drawing/2014/main" id="{A7B935CD-75FF-7A95-8270-61245F90A963}"/>
              </a:ext>
            </a:extLst>
          </p:cNvPr>
          <p:cNvSpPr/>
          <p:nvPr/>
        </p:nvSpPr>
        <p:spPr>
          <a:xfrm>
            <a:off x="960477" y="1970365"/>
            <a:ext cx="12709446" cy="3967996"/>
          </a:xfrm>
          <a:prstGeom prst="rect">
            <a:avLst/>
          </a:prstGeom>
          <a:noFill/>
          <a:ln/>
        </p:spPr>
        <p:txBody>
          <a:bodyPr wrap="square" lIns="0" tIns="0" rIns="0" bIns="0" rtlCol="0" anchor="t"/>
          <a:lstStyle/>
          <a:p>
            <a:pPr marL="0" indent="0" algn="l">
              <a:lnSpc>
                <a:spcPts val="1450"/>
              </a:lnSpc>
              <a:buNone/>
            </a:pPr>
            <a:r>
              <a:rPr lang="en-US" sz="1050" dirty="0">
                <a:solidFill>
                  <a:srgbClr val="D73A49"/>
                </a:solidFill>
                <a:highlight>
                  <a:srgbClr val="F2F2F2"/>
                </a:highlight>
                <a:latin typeface="Times New Roman" panose="02020603050405020304" pitchFamily="18" charset="0"/>
                <a:ea typeface="Consolas" pitchFamily="34" charset="-122"/>
                <a:cs typeface="Times New Roman" panose="02020603050405020304" pitchFamily="18" charset="0"/>
              </a:rPr>
              <a:t>class MyAdapter(private val items: List&lt;String&gt;) :
    RecyclerView.Adapter&lt;MyAdapter.MyViewHolder&gt;() {
    class MyViewHolder(itemView: View) :
        RecyclerView.ViewHolder(itemView) {
        val textView: TextView = itemView.findViewById(R.id.textView)
    }
    override fun onCreateViewHolder(parent: ViewGroup, viewType: Int): MyViewHolder {
        val view = LayoutInflater.from(parent.context)
            .inflate(R.layout.item_layout, parent, false)
        return MyViewHolder(view)
    }
    override fun onBindViewHolder(holder: MyViewHolder, position: Int) {
        holder.textView.text = items[position]
    }
    override fun getItemCount() = items.size
}
</a:t>
            </a:r>
            <a:endParaRPr lang="en-US" sz="105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7D74B3E6-CFFD-E97D-B9FA-BC5355E0D45E}"/>
              </a:ext>
            </a:extLst>
          </p:cNvPr>
          <p:cNvSpPr/>
          <p:nvPr/>
        </p:nvSpPr>
        <p:spPr>
          <a:xfrm>
            <a:off x="793790" y="6394847"/>
            <a:ext cx="4282797" cy="1154668"/>
          </a:xfrm>
          <a:prstGeom prst="roundRect">
            <a:avLst>
              <a:gd name="adj" fmla="val 6335"/>
            </a:avLst>
          </a:prstGeom>
          <a:solidFill>
            <a:srgbClr val="FFFFFF">
              <a:alpha val="95000"/>
            </a:srgbClr>
          </a:solidFill>
          <a:ln/>
        </p:spPr>
      </p:sp>
      <p:sp>
        <p:nvSpPr>
          <p:cNvPr id="10" name="Shape 8">
            <a:extLst>
              <a:ext uri="{FF2B5EF4-FFF2-40B4-BE49-F238E27FC236}">
                <a16:creationId xmlns:a16="http://schemas.microsoft.com/office/drawing/2014/main" id="{B5A50949-59F0-3EE5-7B09-E9A5087A9EBF}"/>
              </a:ext>
            </a:extLst>
          </p:cNvPr>
          <p:cNvSpPr/>
          <p:nvPr/>
        </p:nvSpPr>
        <p:spPr>
          <a:xfrm>
            <a:off x="793790" y="6379607"/>
            <a:ext cx="4282797" cy="60960"/>
          </a:xfrm>
          <a:prstGeom prst="roundRect">
            <a:avLst>
              <a:gd name="adj" fmla="val 95721"/>
            </a:avLst>
          </a:prstGeom>
          <a:solidFill>
            <a:srgbClr val="E5E5E0"/>
          </a:solidFill>
          <a:ln/>
        </p:spPr>
      </p:sp>
      <p:sp>
        <p:nvSpPr>
          <p:cNvPr id="11" name="Shape 9">
            <a:extLst>
              <a:ext uri="{FF2B5EF4-FFF2-40B4-BE49-F238E27FC236}">
                <a16:creationId xmlns:a16="http://schemas.microsoft.com/office/drawing/2014/main" id="{7866206F-A1FC-9218-6F33-1C8982F2819E}"/>
              </a:ext>
            </a:extLst>
          </p:cNvPr>
          <p:cNvSpPr/>
          <p:nvPr/>
        </p:nvSpPr>
        <p:spPr>
          <a:xfrm>
            <a:off x="2726769" y="6186488"/>
            <a:ext cx="416719" cy="416719"/>
          </a:xfrm>
          <a:prstGeom prst="roundRect">
            <a:avLst>
              <a:gd name="adj" fmla="val 219428"/>
            </a:avLst>
          </a:prstGeom>
          <a:solidFill>
            <a:srgbClr val="E5E5E0"/>
          </a:solidFill>
          <a:ln/>
        </p:spPr>
      </p:sp>
      <p:sp>
        <p:nvSpPr>
          <p:cNvPr id="12" name="Text 10">
            <a:extLst>
              <a:ext uri="{FF2B5EF4-FFF2-40B4-BE49-F238E27FC236}">
                <a16:creationId xmlns:a16="http://schemas.microsoft.com/office/drawing/2014/main" id="{2A4FB194-A6AC-218F-DD1F-B69683C0AE1E}"/>
              </a:ext>
            </a:extLst>
          </p:cNvPr>
          <p:cNvSpPr/>
          <p:nvPr/>
        </p:nvSpPr>
        <p:spPr>
          <a:xfrm>
            <a:off x="2851785" y="6290667"/>
            <a:ext cx="166688" cy="208359"/>
          </a:xfrm>
          <a:prstGeom prst="rect">
            <a:avLst/>
          </a:prstGeom>
          <a:noFill/>
          <a:ln/>
        </p:spPr>
        <p:txBody>
          <a:bodyPr wrap="none" lIns="0" tIns="0" rIns="0" bIns="0" rtlCol="0" anchor="t"/>
          <a:lstStyle/>
          <a:p>
            <a:pPr marL="0" indent="0" algn="l">
              <a:lnSpc>
                <a:spcPts val="1750"/>
              </a:lnSpc>
              <a:buNone/>
            </a:pPr>
            <a:r>
              <a:rPr lang="en-US" sz="1300" dirty="0">
                <a:solidFill>
                  <a:srgbClr val="000000"/>
                </a:solidFill>
                <a:latin typeface="Times New Roman" panose="02020603050405020304" pitchFamily="18" charset="0"/>
                <a:ea typeface="Gelasio"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19675673-1DB6-AEC5-7F82-EACF170F6C27}"/>
              </a:ext>
            </a:extLst>
          </p:cNvPr>
          <p:cNvSpPr/>
          <p:nvPr/>
        </p:nvSpPr>
        <p:spPr>
          <a:xfrm>
            <a:off x="947857" y="6742152"/>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Times New Roman" panose="02020603050405020304" pitchFamily="18" charset="0"/>
                <a:ea typeface="Gelasio" pitchFamily="34" charset="-122"/>
                <a:cs typeface="Times New Roman" panose="02020603050405020304" pitchFamily="18" charset="0"/>
              </a:rPr>
              <a:t>onCreateViewHolder</a:t>
            </a:r>
            <a:endParaRPr lang="en-US" sz="135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BC05F3DB-CA0D-232A-AFA6-0960E7BFDEFE}"/>
              </a:ext>
            </a:extLst>
          </p:cNvPr>
          <p:cNvSpPr/>
          <p:nvPr/>
        </p:nvSpPr>
        <p:spPr>
          <a:xfrm>
            <a:off x="947857" y="7017544"/>
            <a:ext cx="3974663" cy="37790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Inflates the item layout and creates a new ViewHolder — called only when a new view is needed.</a:t>
            </a:r>
            <a:endParaRPr lang="en-US" sz="1050" dirty="0">
              <a:latin typeface="Times New Roman" panose="02020603050405020304" pitchFamily="18" charset="0"/>
              <a:cs typeface="Times New Roman" panose="02020603050405020304" pitchFamily="18" charset="0"/>
            </a:endParaRPr>
          </a:p>
        </p:txBody>
      </p:sp>
      <p:sp>
        <p:nvSpPr>
          <p:cNvPr id="15" name="Shape 13">
            <a:extLst>
              <a:ext uri="{FF2B5EF4-FFF2-40B4-BE49-F238E27FC236}">
                <a16:creationId xmlns:a16="http://schemas.microsoft.com/office/drawing/2014/main" id="{E9B0CA8E-8843-F635-89B0-B3D2B0B795CB}"/>
              </a:ext>
            </a:extLst>
          </p:cNvPr>
          <p:cNvSpPr/>
          <p:nvPr/>
        </p:nvSpPr>
        <p:spPr>
          <a:xfrm>
            <a:off x="5173742" y="6394847"/>
            <a:ext cx="4282797" cy="1154668"/>
          </a:xfrm>
          <a:prstGeom prst="roundRect">
            <a:avLst>
              <a:gd name="adj" fmla="val 6335"/>
            </a:avLst>
          </a:prstGeom>
          <a:solidFill>
            <a:srgbClr val="FFFFFF">
              <a:alpha val="95000"/>
            </a:srgbClr>
          </a:solidFill>
          <a:ln/>
        </p:spPr>
      </p:sp>
      <p:sp>
        <p:nvSpPr>
          <p:cNvPr id="16" name="Shape 14">
            <a:extLst>
              <a:ext uri="{FF2B5EF4-FFF2-40B4-BE49-F238E27FC236}">
                <a16:creationId xmlns:a16="http://schemas.microsoft.com/office/drawing/2014/main" id="{56725DA1-180A-B6B7-81F5-B0F2B9566719}"/>
              </a:ext>
            </a:extLst>
          </p:cNvPr>
          <p:cNvSpPr/>
          <p:nvPr/>
        </p:nvSpPr>
        <p:spPr>
          <a:xfrm>
            <a:off x="5173742" y="6379607"/>
            <a:ext cx="4282797" cy="60960"/>
          </a:xfrm>
          <a:prstGeom prst="roundRect">
            <a:avLst>
              <a:gd name="adj" fmla="val 95721"/>
            </a:avLst>
          </a:prstGeom>
          <a:solidFill>
            <a:srgbClr val="E5E5E0"/>
          </a:solidFill>
          <a:ln/>
        </p:spPr>
      </p:sp>
      <p:sp>
        <p:nvSpPr>
          <p:cNvPr id="17" name="Shape 15">
            <a:extLst>
              <a:ext uri="{FF2B5EF4-FFF2-40B4-BE49-F238E27FC236}">
                <a16:creationId xmlns:a16="http://schemas.microsoft.com/office/drawing/2014/main" id="{CEF667B3-232C-9CF7-87E4-C41B267CF7A2}"/>
              </a:ext>
            </a:extLst>
          </p:cNvPr>
          <p:cNvSpPr/>
          <p:nvPr/>
        </p:nvSpPr>
        <p:spPr>
          <a:xfrm>
            <a:off x="7106722" y="6186488"/>
            <a:ext cx="416719" cy="416719"/>
          </a:xfrm>
          <a:prstGeom prst="roundRect">
            <a:avLst>
              <a:gd name="adj" fmla="val 219428"/>
            </a:avLst>
          </a:prstGeom>
          <a:solidFill>
            <a:srgbClr val="E5E5E0"/>
          </a:solidFill>
          <a:ln/>
        </p:spPr>
      </p:sp>
      <p:sp>
        <p:nvSpPr>
          <p:cNvPr id="18" name="Text 16">
            <a:extLst>
              <a:ext uri="{FF2B5EF4-FFF2-40B4-BE49-F238E27FC236}">
                <a16:creationId xmlns:a16="http://schemas.microsoft.com/office/drawing/2014/main" id="{0F63C71C-F705-FD37-78FD-BE4B80E760EC}"/>
              </a:ext>
            </a:extLst>
          </p:cNvPr>
          <p:cNvSpPr/>
          <p:nvPr/>
        </p:nvSpPr>
        <p:spPr>
          <a:xfrm>
            <a:off x="7231737" y="6290667"/>
            <a:ext cx="166688" cy="208359"/>
          </a:xfrm>
          <a:prstGeom prst="rect">
            <a:avLst/>
          </a:prstGeom>
          <a:noFill/>
          <a:ln/>
        </p:spPr>
        <p:txBody>
          <a:bodyPr wrap="none" lIns="0" tIns="0" rIns="0" bIns="0" rtlCol="0" anchor="t"/>
          <a:lstStyle/>
          <a:p>
            <a:pPr marL="0" indent="0" algn="l">
              <a:lnSpc>
                <a:spcPts val="1750"/>
              </a:lnSpc>
              <a:buNone/>
            </a:pPr>
            <a:r>
              <a:rPr lang="en-US" sz="1300" dirty="0">
                <a:solidFill>
                  <a:srgbClr val="000000"/>
                </a:solidFill>
                <a:latin typeface="Times New Roman" panose="02020603050405020304" pitchFamily="18" charset="0"/>
                <a:ea typeface="Gelasio"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3DA85AD6-49FD-BB03-E210-AD8E2CD7CA66}"/>
              </a:ext>
            </a:extLst>
          </p:cNvPr>
          <p:cNvSpPr/>
          <p:nvPr/>
        </p:nvSpPr>
        <p:spPr>
          <a:xfrm>
            <a:off x="5327809" y="6742152"/>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Times New Roman" panose="02020603050405020304" pitchFamily="18" charset="0"/>
                <a:ea typeface="Gelasio" pitchFamily="34" charset="-122"/>
                <a:cs typeface="Times New Roman" panose="02020603050405020304" pitchFamily="18" charset="0"/>
              </a:rPr>
              <a:t>onBindViewHolder</a:t>
            </a:r>
            <a:endParaRPr lang="en-US" sz="1350" dirty="0">
              <a:latin typeface="Times New Roman" panose="02020603050405020304" pitchFamily="18" charset="0"/>
              <a:cs typeface="Times New Roman" panose="02020603050405020304" pitchFamily="18" charset="0"/>
            </a:endParaRPr>
          </a:p>
        </p:txBody>
      </p:sp>
      <p:sp>
        <p:nvSpPr>
          <p:cNvPr id="20" name="Text 18">
            <a:extLst>
              <a:ext uri="{FF2B5EF4-FFF2-40B4-BE49-F238E27FC236}">
                <a16:creationId xmlns:a16="http://schemas.microsoft.com/office/drawing/2014/main" id="{DFFCFF2D-D074-B0A5-07EB-E6A40E2B1CCC}"/>
              </a:ext>
            </a:extLst>
          </p:cNvPr>
          <p:cNvSpPr/>
          <p:nvPr/>
        </p:nvSpPr>
        <p:spPr>
          <a:xfrm>
            <a:off x="5327809" y="7017544"/>
            <a:ext cx="3974663" cy="37790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Binds data at a given position to the ViewHolder's views — called every time a view becomes visible.</a:t>
            </a:r>
            <a:endParaRPr lang="en-US" sz="1050" dirty="0">
              <a:latin typeface="Times New Roman" panose="02020603050405020304" pitchFamily="18" charset="0"/>
              <a:cs typeface="Times New Roman" panose="02020603050405020304" pitchFamily="18" charset="0"/>
            </a:endParaRPr>
          </a:p>
        </p:txBody>
      </p:sp>
      <p:sp>
        <p:nvSpPr>
          <p:cNvPr id="21" name="Shape 19">
            <a:extLst>
              <a:ext uri="{FF2B5EF4-FFF2-40B4-BE49-F238E27FC236}">
                <a16:creationId xmlns:a16="http://schemas.microsoft.com/office/drawing/2014/main" id="{BE7F8799-E956-CC17-E0EC-CC5C513E5261}"/>
              </a:ext>
            </a:extLst>
          </p:cNvPr>
          <p:cNvSpPr/>
          <p:nvPr/>
        </p:nvSpPr>
        <p:spPr>
          <a:xfrm>
            <a:off x="9553694" y="6394847"/>
            <a:ext cx="4282797" cy="1154668"/>
          </a:xfrm>
          <a:prstGeom prst="roundRect">
            <a:avLst>
              <a:gd name="adj" fmla="val 6335"/>
            </a:avLst>
          </a:prstGeom>
          <a:solidFill>
            <a:srgbClr val="FFFFFF">
              <a:alpha val="95000"/>
            </a:srgbClr>
          </a:solidFill>
          <a:ln/>
        </p:spPr>
      </p:sp>
      <p:sp>
        <p:nvSpPr>
          <p:cNvPr id="22" name="Shape 20">
            <a:extLst>
              <a:ext uri="{FF2B5EF4-FFF2-40B4-BE49-F238E27FC236}">
                <a16:creationId xmlns:a16="http://schemas.microsoft.com/office/drawing/2014/main" id="{0ED7DF01-8295-3C8E-59E2-4C06334C8BB8}"/>
              </a:ext>
            </a:extLst>
          </p:cNvPr>
          <p:cNvSpPr/>
          <p:nvPr/>
        </p:nvSpPr>
        <p:spPr>
          <a:xfrm>
            <a:off x="9553694" y="6379607"/>
            <a:ext cx="4282797" cy="60960"/>
          </a:xfrm>
          <a:prstGeom prst="roundRect">
            <a:avLst>
              <a:gd name="adj" fmla="val 95721"/>
            </a:avLst>
          </a:prstGeom>
          <a:solidFill>
            <a:srgbClr val="E5E5E0"/>
          </a:solidFill>
          <a:ln/>
        </p:spPr>
      </p:sp>
      <p:sp>
        <p:nvSpPr>
          <p:cNvPr id="23" name="Shape 21">
            <a:extLst>
              <a:ext uri="{FF2B5EF4-FFF2-40B4-BE49-F238E27FC236}">
                <a16:creationId xmlns:a16="http://schemas.microsoft.com/office/drawing/2014/main" id="{427316D2-0DE5-D9B2-5BF7-1452F1CC385F}"/>
              </a:ext>
            </a:extLst>
          </p:cNvPr>
          <p:cNvSpPr/>
          <p:nvPr/>
        </p:nvSpPr>
        <p:spPr>
          <a:xfrm>
            <a:off x="11486674" y="6186488"/>
            <a:ext cx="416719" cy="416719"/>
          </a:xfrm>
          <a:prstGeom prst="roundRect">
            <a:avLst>
              <a:gd name="adj" fmla="val 219428"/>
            </a:avLst>
          </a:prstGeom>
          <a:solidFill>
            <a:srgbClr val="E5E5E0"/>
          </a:solidFill>
          <a:ln/>
        </p:spPr>
      </p:sp>
      <p:sp>
        <p:nvSpPr>
          <p:cNvPr id="24" name="Text 22">
            <a:extLst>
              <a:ext uri="{FF2B5EF4-FFF2-40B4-BE49-F238E27FC236}">
                <a16:creationId xmlns:a16="http://schemas.microsoft.com/office/drawing/2014/main" id="{1A3CAAF7-D7D6-C15B-7951-7673CF1B67A2}"/>
              </a:ext>
            </a:extLst>
          </p:cNvPr>
          <p:cNvSpPr/>
          <p:nvPr/>
        </p:nvSpPr>
        <p:spPr>
          <a:xfrm>
            <a:off x="11611689" y="6290667"/>
            <a:ext cx="166688" cy="208359"/>
          </a:xfrm>
          <a:prstGeom prst="rect">
            <a:avLst/>
          </a:prstGeom>
          <a:noFill/>
          <a:ln/>
        </p:spPr>
        <p:txBody>
          <a:bodyPr wrap="none" lIns="0" tIns="0" rIns="0" bIns="0" rtlCol="0" anchor="t"/>
          <a:lstStyle/>
          <a:p>
            <a:pPr marL="0" indent="0" algn="l">
              <a:lnSpc>
                <a:spcPts val="1750"/>
              </a:lnSpc>
              <a:buNone/>
            </a:pPr>
            <a:r>
              <a:rPr lang="en-US" sz="1300" dirty="0">
                <a:solidFill>
                  <a:srgbClr val="000000"/>
                </a:solidFill>
                <a:latin typeface="Times New Roman" panose="02020603050405020304" pitchFamily="18" charset="0"/>
                <a:ea typeface="Gelasio"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07CCE97D-3661-D83F-9B42-5942E2E88D30}"/>
              </a:ext>
            </a:extLst>
          </p:cNvPr>
          <p:cNvSpPr/>
          <p:nvPr/>
        </p:nvSpPr>
        <p:spPr>
          <a:xfrm>
            <a:off x="9707761" y="6742152"/>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Times New Roman" panose="02020603050405020304" pitchFamily="18" charset="0"/>
                <a:ea typeface="Gelasio" pitchFamily="34" charset="-122"/>
                <a:cs typeface="Times New Roman" panose="02020603050405020304" pitchFamily="18" charset="0"/>
              </a:rPr>
              <a:t>getItemCount</a:t>
            </a:r>
            <a:endParaRPr lang="en-US" sz="1350" dirty="0">
              <a:latin typeface="Times New Roman" panose="02020603050405020304" pitchFamily="18" charset="0"/>
              <a:cs typeface="Times New Roman" panose="02020603050405020304" pitchFamily="18" charset="0"/>
            </a:endParaRPr>
          </a:p>
        </p:txBody>
      </p:sp>
      <p:sp>
        <p:nvSpPr>
          <p:cNvPr id="26" name="Text 24">
            <a:extLst>
              <a:ext uri="{FF2B5EF4-FFF2-40B4-BE49-F238E27FC236}">
                <a16:creationId xmlns:a16="http://schemas.microsoft.com/office/drawing/2014/main" id="{5B23D029-61C2-F4AA-9CB0-53BCD794FCC6}"/>
              </a:ext>
            </a:extLst>
          </p:cNvPr>
          <p:cNvSpPr/>
          <p:nvPr/>
        </p:nvSpPr>
        <p:spPr>
          <a:xfrm>
            <a:off x="9707761" y="7017544"/>
            <a:ext cx="3974663" cy="37790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Times New Roman" panose="02020603050405020304" pitchFamily="18" charset="0"/>
                <a:ea typeface="Lato" pitchFamily="34" charset="-122"/>
                <a:cs typeface="Times New Roman" panose="02020603050405020304" pitchFamily="18" charset="0"/>
              </a:rPr>
              <a:t>Returns the total number of items in your dataset so RecyclerView knows how many rows to draw.</a:t>
            </a:r>
            <a:endParaRPr lang="en-US" sz="1050"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D56F3C41-96A3-4A07-21AB-48FEDA906B67}"/>
              </a:ext>
            </a:extLst>
          </p:cNvPr>
          <p:cNvPicPr>
            <a:picLocks noChangeAspect="1"/>
          </p:cNvPicPr>
          <p:nvPr/>
        </p:nvPicPr>
        <p:blipFill>
          <a:blip r:embed="rId2">
            <a:alphaModFix amt="50000"/>
          </a:blip>
          <a:stretch>
            <a:fillRect/>
          </a:stretch>
        </p:blipFill>
        <p:spPr>
          <a:xfrm>
            <a:off x="11547318" y="10439"/>
            <a:ext cx="3083082" cy="1561171"/>
          </a:xfrm>
          <a:prstGeom prst="rect">
            <a:avLst/>
          </a:prstGeom>
        </p:spPr>
      </p:pic>
    </p:spTree>
    <p:extLst>
      <p:ext uri="{BB962C8B-B14F-4D97-AF65-F5344CB8AC3E}">
        <p14:creationId xmlns:p14="http://schemas.microsoft.com/office/powerpoint/2010/main" val="3733108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1118</Words>
  <Application>Microsoft Office PowerPoint</Application>
  <PresentationFormat>Custom</PresentationFormat>
  <Paragraphs>90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Sitka Text</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Akshita Gupta</cp:lastModifiedBy>
  <cp:revision>3</cp:revision>
  <dcterms:created xsi:type="dcterms:W3CDTF">2026-04-23T12:09:51Z</dcterms:created>
  <dcterms:modified xsi:type="dcterms:W3CDTF">2026-04-24T12:16:20Z</dcterms:modified>
</cp:coreProperties>
</file>